
<file path=[Content_Types].xml><?xml version="1.0" encoding="utf-8"?>
<Types xmlns="http://schemas.openxmlformats.org/package/2006/content-types">
  <Default Extension="jpeg" ContentType="image/jpeg"/>
  <Default Extension="jpg" ContentType="image/pn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61" r:id="rId3"/>
    <p:sldId id="257" r:id="rId4"/>
    <p:sldId id="259" r:id="rId5"/>
    <p:sldId id="262" r:id="rId6"/>
    <p:sldId id="263" r:id="rId7"/>
    <p:sldId id="269" r:id="rId8"/>
    <p:sldId id="264" r:id="rId9"/>
    <p:sldId id="265" r:id="rId10"/>
    <p:sldId id="266" r:id="rId11"/>
    <p:sldId id="267" r:id="rId12"/>
    <p:sldId id="268" r:id="rId13"/>
    <p:sldId id="260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887" y="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12" Type="http://schemas.openxmlformats.org/officeDocument/2006/relationships/image" Target="../media/image17.sv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0" Type="http://schemas.openxmlformats.org/officeDocument/2006/relationships/image" Target="../media/image15.svg"/><Relationship Id="rId4" Type="http://schemas.openxmlformats.org/officeDocument/2006/relationships/image" Target="../media/image9.svg"/><Relationship Id="rId9" Type="http://schemas.openxmlformats.org/officeDocument/2006/relationships/image" Target="../media/image14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12" Type="http://schemas.openxmlformats.org/officeDocument/2006/relationships/image" Target="../media/image17.sv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0" Type="http://schemas.openxmlformats.org/officeDocument/2006/relationships/image" Target="../media/image15.svg"/><Relationship Id="rId4" Type="http://schemas.openxmlformats.org/officeDocument/2006/relationships/image" Target="../media/image9.svg"/><Relationship Id="rId9" Type="http://schemas.openxmlformats.org/officeDocument/2006/relationships/image" Target="../media/image14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1C00B14-1898-4427-B3E7-C69B7CF66988}" type="doc">
      <dgm:prSet loTypeId="urn:microsoft.com/office/officeart/2018/2/layout/IconVerticalSolidList" loCatId="icon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24A9B55-7DBC-49B8-9512-260BE56206C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Introduction (try to answer what it is, why it is,  and what is  (are) existing problems, why the problem is so important to discuss; may cite in the footer)</a:t>
          </a:r>
        </a:p>
      </dgm:t>
    </dgm:pt>
    <dgm:pt modelId="{C61A8FC9-FE3D-47DF-B9A3-D31F796264F5}" type="parTrans" cxnId="{B71BEF9B-18D5-48DF-9AB3-074DC3B8D9D1}">
      <dgm:prSet/>
      <dgm:spPr/>
      <dgm:t>
        <a:bodyPr/>
        <a:lstStyle/>
        <a:p>
          <a:endParaRPr lang="en-US"/>
        </a:p>
      </dgm:t>
    </dgm:pt>
    <dgm:pt modelId="{DEE42B7F-154D-4D32-BDD3-2CC540966FE1}" type="sibTrans" cxnId="{B71BEF9B-18D5-48DF-9AB3-074DC3B8D9D1}">
      <dgm:prSet/>
      <dgm:spPr/>
      <dgm:t>
        <a:bodyPr/>
        <a:lstStyle/>
        <a:p>
          <a:endParaRPr lang="en-US"/>
        </a:p>
      </dgm:t>
    </dgm:pt>
    <dgm:pt modelId="{B1A3F17A-670A-487A-95D6-A18278939AC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Motivation &amp; Contributions</a:t>
          </a:r>
        </a:p>
      </dgm:t>
    </dgm:pt>
    <dgm:pt modelId="{38C41431-F718-40F7-B5ED-11183A64176C}" type="parTrans" cxnId="{89F1DB3A-7C19-488D-BEE9-1825D7F89718}">
      <dgm:prSet/>
      <dgm:spPr/>
      <dgm:t>
        <a:bodyPr/>
        <a:lstStyle/>
        <a:p>
          <a:endParaRPr lang="en-US"/>
        </a:p>
      </dgm:t>
    </dgm:pt>
    <dgm:pt modelId="{278EEEF4-E038-416B-BEC7-E5F45EC73C13}" type="sibTrans" cxnId="{89F1DB3A-7C19-488D-BEE9-1825D7F89718}">
      <dgm:prSet/>
      <dgm:spPr/>
      <dgm:t>
        <a:bodyPr/>
        <a:lstStyle/>
        <a:p>
          <a:endParaRPr lang="en-US"/>
        </a:p>
      </dgm:t>
    </dgm:pt>
    <dgm:pt modelId="{E3D80E55-A8CA-4B9B-8C19-EB56CE8D469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Proposed System Model</a:t>
          </a:r>
        </a:p>
      </dgm:t>
    </dgm:pt>
    <dgm:pt modelId="{082EFE4B-F2A6-40CC-A13D-F00E063B4139}" type="parTrans" cxnId="{C3014C8E-2C88-4F10-8995-36A3360D9A4B}">
      <dgm:prSet/>
      <dgm:spPr/>
      <dgm:t>
        <a:bodyPr/>
        <a:lstStyle/>
        <a:p>
          <a:endParaRPr lang="en-US"/>
        </a:p>
      </dgm:t>
    </dgm:pt>
    <dgm:pt modelId="{F69282E3-6EA0-4B06-9924-A5681AE91E7C}" type="sibTrans" cxnId="{C3014C8E-2C88-4F10-8995-36A3360D9A4B}">
      <dgm:prSet/>
      <dgm:spPr/>
      <dgm:t>
        <a:bodyPr/>
        <a:lstStyle/>
        <a:p>
          <a:endParaRPr lang="en-US"/>
        </a:p>
      </dgm:t>
    </dgm:pt>
    <dgm:pt modelId="{79321F06-441B-49AA-891A-31B7B6DD52A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Results and Discussion</a:t>
          </a:r>
        </a:p>
      </dgm:t>
    </dgm:pt>
    <dgm:pt modelId="{AEA32CD4-6485-40FD-A477-54146CA04DEE}" type="parTrans" cxnId="{D5165637-F03B-4A1B-9A95-6929D064DA83}">
      <dgm:prSet/>
      <dgm:spPr/>
      <dgm:t>
        <a:bodyPr/>
        <a:lstStyle/>
        <a:p>
          <a:endParaRPr lang="en-US"/>
        </a:p>
      </dgm:t>
    </dgm:pt>
    <dgm:pt modelId="{526BE1C7-AD3A-4543-B67D-8DE28496FE72}" type="sibTrans" cxnId="{D5165637-F03B-4A1B-9A95-6929D064DA83}">
      <dgm:prSet/>
      <dgm:spPr/>
      <dgm:t>
        <a:bodyPr/>
        <a:lstStyle/>
        <a:p>
          <a:endParaRPr lang="en-US"/>
        </a:p>
      </dgm:t>
    </dgm:pt>
    <dgm:pt modelId="{362F2FAD-C5DF-458A-9539-16FDF8BF450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Conclusion</a:t>
          </a:r>
        </a:p>
      </dgm:t>
    </dgm:pt>
    <dgm:pt modelId="{DB06F8F7-55A4-4301-9A03-32FF30C76C9A}" type="parTrans" cxnId="{4C53C6F7-08FB-4DE7-9CCE-F1AB7363C6A8}">
      <dgm:prSet/>
      <dgm:spPr/>
      <dgm:t>
        <a:bodyPr/>
        <a:lstStyle/>
        <a:p>
          <a:endParaRPr lang="en-US"/>
        </a:p>
      </dgm:t>
    </dgm:pt>
    <dgm:pt modelId="{27C378C9-D0E0-449D-BCE9-9918CB1C5382}" type="sibTrans" cxnId="{4C53C6F7-08FB-4DE7-9CCE-F1AB7363C6A8}">
      <dgm:prSet/>
      <dgm:spPr/>
      <dgm:t>
        <a:bodyPr/>
        <a:lstStyle/>
        <a:p>
          <a:endParaRPr lang="en-US"/>
        </a:p>
      </dgm:t>
    </dgm:pt>
    <dgm:pt modelId="{49D90748-9C75-4EDF-9FF6-39FB56895D3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Reference</a:t>
          </a:r>
        </a:p>
      </dgm:t>
    </dgm:pt>
    <dgm:pt modelId="{F9069F82-1E47-4BFC-A698-987668B9FDF0}" type="parTrans" cxnId="{9D47895D-7DB8-4976-8C4B-6536F38181CC}">
      <dgm:prSet/>
      <dgm:spPr/>
      <dgm:t>
        <a:bodyPr/>
        <a:lstStyle/>
        <a:p>
          <a:endParaRPr lang="en-US"/>
        </a:p>
      </dgm:t>
    </dgm:pt>
    <dgm:pt modelId="{923E47BA-F244-4E90-95AB-0B2D7D0FE1A8}" type="sibTrans" cxnId="{9D47895D-7DB8-4976-8C4B-6536F38181CC}">
      <dgm:prSet/>
      <dgm:spPr/>
      <dgm:t>
        <a:bodyPr/>
        <a:lstStyle/>
        <a:p>
          <a:endParaRPr lang="en-US"/>
        </a:p>
      </dgm:t>
    </dgm:pt>
    <dgm:pt modelId="{B981DA8F-EBE6-4872-89DC-398E0A74BC8A}" type="pres">
      <dgm:prSet presAssocID="{A1C00B14-1898-4427-B3E7-C69B7CF66988}" presName="root" presStyleCnt="0">
        <dgm:presLayoutVars>
          <dgm:dir/>
          <dgm:resizeHandles val="exact"/>
        </dgm:presLayoutVars>
      </dgm:prSet>
      <dgm:spPr/>
    </dgm:pt>
    <dgm:pt modelId="{990E9C75-611E-4BFD-81B8-558A1223810D}" type="pres">
      <dgm:prSet presAssocID="{E24A9B55-7DBC-49B8-9512-260BE56206CE}" presName="compNode" presStyleCnt="0"/>
      <dgm:spPr/>
    </dgm:pt>
    <dgm:pt modelId="{6ED40233-E8FE-4A3D-A9C5-E7F81AFE78ED}" type="pres">
      <dgm:prSet presAssocID="{E24A9B55-7DBC-49B8-9512-260BE56206CE}" presName="bgRect" presStyleLbl="bgShp" presStyleIdx="0" presStyleCnt="6"/>
      <dgm:spPr/>
    </dgm:pt>
    <dgm:pt modelId="{68A8300B-22F1-48FF-B853-989F40E20B89}" type="pres">
      <dgm:prSet presAssocID="{E24A9B55-7DBC-49B8-9512-260BE56206CE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Questions"/>
        </a:ext>
      </dgm:extLst>
    </dgm:pt>
    <dgm:pt modelId="{4CF1D836-99A8-4C16-85E1-7E3C279977CF}" type="pres">
      <dgm:prSet presAssocID="{E24A9B55-7DBC-49B8-9512-260BE56206CE}" presName="spaceRect" presStyleCnt="0"/>
      <dgm:spPr/>
    </dgm:pt>
    <dgm:pt modelId="{3B66BFF7-840C-4EEC-926A-DEF1B410FD5A}" type="pres">
      <dgm:prSet presAssocID="{E24A9B55-7DBC-49B8-9512-260BE56206CE}" presName="parTx" presStyleLbl="revTx" presStyleIdx="0" presStyleCnt="6">
        <dgm:presLayoutVars>
          <dgm:chMax val="0"/>
          <dgm:chPref val="0"/>
        </dgm:presLayoutVars>
      </dgm:prSet>
      <dgm:spPr/>
    </dgm:pt>
    <dgm:pt modelId="{2821EA9B-D7A9-49C5-A9E3-314E8DCEA1D4}" type="pres">
      <dgm:prSet presAssocID="{DEE42B7F-154D-4D32-BDD3-2CC540966FE1}" presName="sibTrans" presStyleCnt="0"/>
      <dgm:spPr/>
    </dgm:pt>
    <dgm:pt modelId="{7FFCD879-0BBC-49C9-8FBB-492E8F0AC20C}" type="pres">
      <dgm:prSet presAssocID="{B1A3F17A-670A-487A-95D6-A18278939AC0}" presName="compNode" presStyleCnt="0"/>
      <dgm:spPr/>
    </dgm:pt>
    <dgm:pt modelId="{8828A0E7-8D5C-498A-810B-3AF32E42D9B2}" type="pres">
      <dgm:prSet presAssocID="{B1A3F17A-670A-487A-95D6-A18278939AC0}" presName="bgRect" presStyleLbl="bgShp" presStyleIdx="1" presStyleCnt="6"/>
      <dgm:spPr/>
    </dgm:pt>
    <dgm:pt modelId="{9389BE19-F2A1-4F89-BCBB-70F61DDF6677}" type="pres">
      <dgm:prSet presAssocID="{B1A3F17A-670A-487A-95D6-A18278939AC0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ightbulb"/>
        </a:ext>
      </dgm:extLst>
    </dgm:pt>
    <dgm:pt modelId="{4580DF9F-427A-402A-B015-8012EB45B1A3}" type="pres">
      <dgm:prSet presAssocID="{B1A3F17A-670A-487A-95D6-A18278939AC0}" presName="spaceRect" presStyleCnt="0"/>
      <dgm:spPr/>
    </dgm:pt>
    <dgm:pt modelId="{35C810EE-2820-4A16-BB8B-B0FF159B569B}" type="pres">
      <dgm:prSet presAssocID="{B1A3F17A-670A-487A-95D6-A18278939AC0}" presName="parTx" presStyleLbl="revTx" presStyleIdx="1" presStyleCnt="6">
        <dgm:presLayoutVars>
          <dgm:chMax val="0"/>
          <dgm:chPref val="0"/>
        </dgm:presLayoutVars>
      </dgm:prSet>
      <dgm:spPr/>
    </dgm:pt>
    <dgm:pt modelId="{D9E3FADB-E795-4ACD-BA8A-409158ED41CC}" type="pres">
      <dgm:prSet presAssocID="{278EEEF4-E038-416B-BEC7-E5F45EC73C13}" presName="sibTrans" presStyleCnt="0"/>
      <dgm:spPr/>
    </dgm:pt>
    <dgm:pt modelId="{4F8059F6-1EB1-4F60-917B-F3A87067DB3A}" type="pres">
      <dgm:prSet presAssocID="{E3D80E55-A8CA-4B9B-8C19-EB56CE8D4691}" presName="compNode" presStyleCnt="0"/>
      <dgm:spPr/>
    </dgm:pt>
    <dgm:pt modelId="{D0783A6D-DF42-4B66-BD94-6DDB0AC28C9D}" type="pres">
      <dgm:prSet presAssocID="{E3D80E55-A8CA-4B9B-8C19-EB56CE8D4691}" presName="bgRect" presStyleLbl="bgShp" presStyleIdx="2" presStyleCnt="6"/>
      <dgm:spPr/>
    </dgm:pt>
    <dgm:pt modelId="{12CEF199-53BA-4F76-82F2-184421E764F6}" type="pres">
      <dgm:prSet presAssocID="{E3D80E55-A8CA-4B9B-8C19-EB56CE8D4691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BB1B7884-0E78-412B-B9ED-2CF01824FF08}" type="pres">
      <dgm:prSet presAssocID="{E3D80E55-A8CA-4B9B-8C19-EB56CE8D4691}" presName="spaceRect" presStyleCnt="0"/>
      <dgm:spPr/>
    </dgm:pt>
    <dgm:pt modelId="{F67E244D-1270-430E-98F7-488B2D550ECD}" type="pres">
      <dgm:prSet presAssocID="{E3D80E55-A8CA-4B9B-8C19-EB56CE8D4691}" presName="parTx" presStyleLbl="revTx" presStyleIdx="2" presStyleCnt="6">
        <dgm:presLayoutVars>
          <dgm:chMax val="0"/>
          <dgm:chPref val="0"/>
        </dgm:presLayoutVars>
      </dgm:prSet>
      <dgm:spPr/>
    </dgm:pt>
    <dgm:pt modelId="{9B9F131D-7AD5-4C7C-B748-5605856152E9}" type="pres">
      <dgm:prSet presAssocID="{F69282E3-6EA0-4B06-9924-A5681AE91E7C}" presName="sibTrans" presStyleCnt="0"/>
      <dgm:spPr/>
    </dgm:pt>
    <dgm:pt modelId="{BD6DFD49-75DB-4943-8DE9-A21178136D98}" type="pres">
      <dgm:prSet presAssocID="{79321F06-441B-49AA-891A-31B7B6DD52AC}" presName="compNode" presStyleCnt="0"/>
      <dgm:spPr/>
    </dgm:pt>
    <dgm:pt modelId="{24D7CF32-FC6C-4748-BBFB-BD3CAF72C60B}" type="pres">
      <dgm:prSet presAssocID="{79321F06-441B-49AA-891A-31B7B6DD52AC}" presName="bgRect" presStyleLbl="bgShp" presStyleIdx="3" presStyleCnt="6"/>
      <dgm:spPr/>
    </dgm:pt>
    <dgm:pt modelId="{1A5A7960-10DD-4BF8-B772-407FFE06DF95}" type="pres">
      <dgm:prSet presAssocID="{79321F06-441B-49AA-891A-31B7B6DD52AC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0126DFDA-311C-427D-8F2F-C5E66E6FE958}" type="pres">
      <dgm:prSet presAssocID="{79321F06-441B-49AA-891A-31B7B6DD52AC}" presName="spaceRect" presStyleCnt="0"/>
      <dgm:spPr/>
    </dgm:pt>
    <dgm:pt modelId="{592AAAD1-2F47-447A-ADC3-C2B36B1FCA55}" type="pres">
      <dgm:prSet presAssocID="{79321F06-441B-49AA-891A-31B7B6DD52AC}" presName="parTx" presStyleLbl="revTx" presStyleIdx="3" presStyleCnt="6">
        <dgm:presLayoutVars>
          <dgm:chMax val="0"/>
          <dgm:chPref val="0"/>
        </dgm:presLayoutVars>
      </dgm:prSet>
      <dgm:spPr/>
    </dgm:pt>
    <dgm:pt modelId="{EA4D750C-C492-44BB-A487-EBD724549700}" type="pres">
      <dgm:prSet presAssocID="{526BE1C7-AD3A-4543-B67D-8DE28496FE72}" presName="sibTrans" presStyleCnt="0"/>
      <dgm:spPr/>
    </dgm:pt>
    <dgm:pt modelId="{426BE54F-DCD7-47DD-8FC2-6E521AF694E8}" type="pres">
      <dgm:prSet presAssocID="{362F2FAD-C5DF-458A-9539-16FDF8BF450F}" presName="compNode" presStyleCnt="0"/>
      <dgm:spPr/>
    </dgm:pt>
    <dgm:pt modelId="{666E2735-CA78-4D3B-9578-E51196DA70D9}" type="pres">
      <dgm:prSet presAssocID="{362F2FAD-C5DF-458A-9539-16FDF8BF450F}" presName="bgRect" presStyleLbl="bgShp" presStyleIdx="4" presStyleCnt="6"/>
      <dgm:spPr/>
    </dgm:pt>
    <dgm:pt modelId="{3FA6C01F-8168-4711-B087-BDCE72097D44}" type="pres">
      <dgm:prSet presAssocID="{362F2FAD-C5DF-458A-9539-16FDF8BF450F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avel"/>
        </a:ext>
      </dgm:extLst>
    </dgm:pt>
    <dgm:pt modelId="{9854D06F-30BB-4075-8695-D112DD2A0F9E}" type="pres">
      <dgm:prSet presAssocID="{362F2FAD-C5DF-458A-9539-16FDF8BF450F}" presName="spaceRect" presStyleCnt="0"/>
      <dgm:spPr/>
    </dgm:pt>
    <dgm:pt modelId="{64F2101E-37B6-4A91-8969-9CAE8E240584}" type="pres">
      <dgm:prSet presAssocID="{362F2FAD-C5DF-458A-9539-16FDF8BF450F}" presName="parTx" presStyleLbl="revTx" presStyleIdx="4" presStyleCnt="6">
        <dgm:presLayoutVars>
          <dgm:chMax val="0"/>
          <dgm:chPref val="0"/>
        </dgm:presLayoutVars>
      </dgm:prSet>
      <dgm:spPr/>
    </dgm:pt>
    <dgm:pt modelId="{FB2EE507-96E0-48EB-8595-80DCEA9B248E}" type="pres">
      <dgm:prSet presAssocID="{27C378C9-D0E0-449D-BCE9-9918CB1C5382}" presName="sibTrans" presStyleCnt="0"/>
      <dgm:spPr/>
    </dgm:pt>
    <dgm:pt modelId="{1D689B0F-01EC-4228-B193-06986BAC4AC0}" type="pres">
      <dgm:prSet presAssocID="{49D90748-9C75-4EDF-9FF6-39FB56895D3E}" presName="compNode" presStyleCnt="0"/>
      <dgm:spPr/>
    </dgm:pt>
    <dgm:pt modelId="{1B466F9E-EE2C-4F8C-B2EE-0427D8DB34C2}" type="pres">
      <dgm:prSet presAssocID="{49D90748-9C75-4EDF-9FF6-39FB56895D3E}" presName="bgRect" presStyleLbl="bgShp" presStyleIdx="5" presStyleCnt="6"/>
      <dgm:spPr/>
    </dgm:pt>
    <dgm:pt modelId="{3A8C03A0-3919-44AB-B03C-4D473190151D}" type="pres">
      <dgm:prSet presAssocID="{49D90748-9C75-4EDF-9FF6-39FB56895D3E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ooks"/>
        </a:ext>
      </dgm:extLst>
    </dgm:pt>
    <dgm:pt modelId="{BD1770DF-61D6-416C-9FF2-9A76C044944B}" type="pres">
      <dgm:prSet presAssocID="{49D90748-9C75-4EDF-9FF6-39FB56895D3E}" presName="spaceRect" presStyleCnt="0"/>
      <dgm:spPr/>
    </dgm:pt>
    <dgm:pt modelId="{450821D5-1256-4458-8590-FE93415F8374}" type="pres">
      <dgm:prSet presAssocID="{49D90748-9C75-4EDF-9FF6-39FB56895D3E}" presName="parTx" presStyleLbl="revTx" presStyleIdx="5" presStyleCnt="6">
        <dgm:presLayoutVars>
          <dgm:chMax val="0"/>
          <dgm:chPref val="0"/>
        </dgm:presLayoutVars>
      </dgm:prSet>
      <dgm:spPr/>
    </dgm:pt>
  </dgm:ptLst>
  <dgm:cxnLst>
    <dgm:cxn modelId="{B8D5F926-0AFE-4181-956A-7E3A94F55679}" type="presOf" srcId="{E24A9B55-7DBC-49B8-9512-260BE56206CE}" destId="{3B66BFF7-840C-4EEC-926A-DEF1B410FD5A}" srcOrd="0" destOrd="0" presId="urn:microsoft.com/office/officeart/2018/2/layout/IconVerticalSolidList"/>
    <dgm:cxn modelId="{D5165637-F03B-4A1B-9A95-6929D064DA83}" srcId="{A1C00B14-1898-4427-B3E7-C69B7CF66988}" destId="{79321F06-441B-49AA-891A-31B7B6DD52AC}" srcOrd="3" destOrd="0" parTransId="{AEA32CD4-6485-40FD-A477-54146CA04DEE}" sibTransId="{526BE1C7-AD3A-4543-B67D-8DE28496FE72}"/>
    <dgm:cxn modelId="{89F1DB3A-7C19-488D-BEE9-1825D7F89718}" srcId="{A1C00B14-1898-4427-B3E7-C69B7CF66988}" destId="{B1A3F17A-670A-487A-95D6-A18278939AC0}" srcOrd="1" destOrd="0" parTransId="{38C41431-F718-40F7-B5ED-11183A64176C}" sibTransId="{278EEEF4-E038-416B-BEC7-E5F45EC73C13}"/>
    <dgm:cxn modelId="{9D746C40-20C7-40CE-954F-285B5F487C86}" type="presOf" srcId="{B1A3F17A-670A-487A-95D6-A18278939AC0}" destId="{35C810EE-2820-4A16-BB8B-B0FF159B569B}" srcOrd="0" destOrd="0" presId="urn:microsoft.com/office/officeart/2018/2/layout/IconVerticalSolidList"/>
    <dgm:cxn modelId="{9D47895D-7DB8-4976-8C4B-6536F38181CC}" srcId="{A1C00B14-1898-4427-B3E7-C69B7CF66988}" destId="{49D90748-9C75-4EDF-9FF6-39FB56895D3E}" srcOrd="5" destOrd="0" parTransId="{F9069F82-1E47-4BFC-A698-987668B9FDF0}" sibTransId="{923E47BA-F244-4E90-95AB-0B2D7D0FE1A8}"/>
    <dgm:cxn modelId="{4F0D7D67-98B9-4055-A85E-1CD77E0CD94C}" type="presOf" srcId="{A1C00B14-1898-4427-B3E7-C69B7CF66988}" destId="{B981DA8F-EBE6-4872-89DC-398E0A74BC8A}" srcOrd="0" destOrd="0" presId="urn:microsoft.com/office/officeart/2018/2/layout/IconVerticalSolidList"/>
    <dgm:cxn modelId="{85F5C889-29E7-460C-A6C3-6AD7E43E5919}" type="presOf" srcId="{E3D80E55-A8CA-4B9B-8C19-EB56CE8D4691}" destId="{F67E244D-1270-430E-98F7-488B2D550ECD}" srcOrd="0" destOrd="0" presId="urn:microsoft.com/office/officeart/2018/2/layout/IconVerticalSolidList"/>
    <dgm:cxn modelId="{C3014C8E-2C88-4F10-8995-36A3360D9A4B}" srcId="{A1C00B14-1898-4427-B3E7-C69B7CF66988}" destId="{E3D80E55-A8CA-4B9B-8C19-EB56CE8D4691}" srcOrd="2" destOrd="0" parTransId="{082EFE4B-F2A6-40CC-A13D-F00E063B4139}" sibTransId="{F69282E3-6EA0-4B06-9924-A5681AE91E7C}"/>
    <dgm:cxn modelId="{B71BEF9B-18D5-48DF-9AB3-074DC3B8D9D1}" srcId="{A1C00B14-1898-4427-B3E7-C69B7CF66988}" destId="{E24A9B55-7DBC-49B8-9512-260BE56206CE}" srcOrd="0" destOrd="0" parTransId="{C61A8FC9-FE3D-47DF-B9A3-D31F796264F5}" sibTransId="{DEE42B7F-154D-4D32-BDD3-2CC540966FE1}"/>
    <dgm:cxn modelId="{0205349F-9D22-4FEA-A19D-283AB406E9F8}" type="presOf" srcId="{49D90748-9C75-4EDF-9FF6-39FB56895D3E}" destId="{450821D5-1256-4458-8590-FE93415F8374}" srcOrd="0" destOrd="0" presId="urn:microsoft.com/office/officeart/2018/2/layout/IconVerticalSolidList"/>
    <dgm:cxn modelId="{725ADCA9-55D1-42A2-B773-922F87F2557D}" type="presOf" srcId="{79321F06-441B-49AA-891A-31B7B6DD52AC}" destId="{592AAAD1-2F47-447A-ADC3-C2B36B1FCA55}" srcOrd="0" destOrd="0" presId="urn:microsoft.com/office/officeart/2018/2/layout/IconVerticalSolidList"/>
    <dgm:cxn modelId="{68AC00B2-EA6E-4F8C-A7FD-833B24CEB5D3}" type="presOf" srcId="{362F2FAD-C5DF-458A-9539-16FDF8BF450F}" destId="{64F2101E-37B6-4A91-8969-9CAE8E240584}" srcOrd="0" destOrd="0" presId="urn:microsoft.com/office/officeart/2018/2/layout/IconVerticalSolidList"/>
    <dgm:cxn modelId="{4C53C6F7-08FB-4DE7-9CCE-F1AB7363C6A8}" srcId="{A1C00B14-1898-4427-B3E7-C69B7CF66988}" destId="{362F2FAD-C5DF-458A-9539-16FDF8BF450F}" srcOrd="4" destOrd="0" parTransId="{DB06F8F7-55A4-4301-9A03-32FF30C76C9A}" sibTransId="{27C378C9-D0E0-449D-BCE9-9918CB1C5382}"/>
    <dgm:cxn modelId="{0E1648BA-170E-43A1-970D-DCF2E928499E}" type="presParOf" srcId="{B981DA8F-EBE6-4872-89DC-398E0A74BC8A}" destId="{990E9C75-611E-4BFD-81B8-558A1223810D}" srcOrd="0" destOrd="0" presId="urn:microsoft.com/office/officeart/2018/2/layout/IconVerticalSolidList"/>
    <dgm:cxn modelId="{02D67932-4471-4266-AE74-78938F656336}" type="presParOf" srcId="{990E9C75-611E-4BFD-81B8-558A1223810D}" destId="{6ED40233-E8FE-4A3D-A9C5-E7F81AFE78ED}" srcOrd="0" destOrd="0" presId="urn:microsoft.com/office/officeart/2018/2/layout/IconVerticalSolidList"/>
    <dgm:cxn modelId="{5A84D12A-21FA-41FD-BDB5-64A85F60A9CA}" type="presParOf" srcId="{990E9C75-611E-4BFD-81B8-558A1223810D}" destId="{68A8300B-22F1-48FF-B853-989F40E20B89}" srcOrd="1" destOrd="0" presId="urn:microsoft.com/office/officeart/2018/2/layout/IconVerticalSolidList"/>
    <dgm:cxn modelId="{B4634940-8D74-4CC3-9176-BD1629C82437}" type="presParOf" srcId="{990E9C75-611E-4BFD-81B8-558A1223810D}" destId="{4CF1D836-99A8-4C16-85E1-7E3C279977CF}" srcOrd="2" destOrd="0" presId="urn:microsoft.com/office/officeart/2018/2/layout/IconVerticalSolidList"/>
    <dgm:cxn modelId="{A0D0B8DD-8031-4625-B5DA-FDD722DFD5B7}" type="presParOf" srcId="{990E9C75-611E-4BFD-81B8-558A1223810D}" destId="{3B66BFF7-840C-4EEC-926A-DEF1B410FD5A}" srcOrd="3" destOrd="0" presId="urn:microsoft.com/office/officeart/2018/2/layout/IconVerticalSolidList"/>
    <dgm:cxn modelId="{A4F85704-29C6-4FAB-8183-EAF514138637}" type="presParOf" srcId="{B981DA8F-EBE6-4872-89DC-398E0A74BC8A}" destId="{2821EA9B-D7A9-49C5-A9E3-314E8DCEA1D4}" srcOrd="1" destOrd="0" presId="urn:microsoft.com/office/officeart/2018/2/layout/IconVerticalSolidList"/>
    <dgm:cxn modelId="{12F48814-0DBB-4839-9226-E18B5C4ABBDD}" type="presParOf" srcId="{B981DA8F-EBE6-4872-89DC-398E0A74BC8A}" destId="{7FFCD879-0BBC-49C9-8FBB-492E8F0AC20C}" srcOrd="2" destOrd="0" presId="urn:microsoft.com/office/officeart/2018/2/layout/IconVerticalSolidList"/>
    <dgm:cxn modelId="{82736AFE-78DC-4603-805D-2CAC8B333370}" type="presParOf" srcId="{7FFCD879-0BBC-49C9-8FBB-492E8F0AC20C}" destId="{8828A0E7-8D5C-498A-810B-3AF32E42D9B2}" srcOrd="0" destOrd="0" presId="urn:microsoft.com/office/officeart/2018/2/layout/IconVerticalSolidList"/>
    <dgm:cxn modelId="{68082EB0-AA12-4F14-ACE9-C01ED7C69341}" type="presParOf" srcId="{7FFCD879-0BBC-49C9-8FBB-492E8F0AC20C}" destId="{9389BE19-F2A1-4F89-BCBB-70F61DDF6677}" srcOrd="1" destOrd="0" presId="urn:microsoft.com/office/officeart/2018/2/layout/IconVerticalSolidList"/>
    <dgm:cxn modelId="{1EE440A9-B8FC-48B3-8D84-9A823B5FF9D3}" type="presParOf" srcId="{7FFCD879-0BBC-49C9-8FBB-492E8F0AC20C}" destId="{4580DF9F-427A-402A-B015-8012EB45B1A3}" srcOrd="2" destOrd="0" presId="urn:microsoft.com/office/officeart/2018/2/layout/IconVerticalSolidList"/>
    <dgm:cxn modelId="{9E7582D5-8057-459A-A790-D599A1D0685B}" type="presParOf" srcId="{7FFCD879-0BBC-49C9-8FBB-492E8F0AC20C}" destId="{35C810EE-2820-4A16-BB8B-B0FF159B569B}" srcOrd="3" destOrd="0" presId="urn:microsoft.com/office/officeart/2018/2/layout/IconVerticalSolidList"/>
    <dgm:cxn modelId="{9332FA07-A67E-40B1-8C2B-61FA620E98A8}" type="presParOf" srcId="{B981DA8F-EBE6-4872-89DC-398E0A74BC8A}" destId="{D9E3FADB-E795-4ACD-BA8A-409158ED41CC}" srcOrd="3" destOrd="0" presId="urn:microsoft.com/office/officeart/2018/2/layout/IconVerticalSolidList"/>
    <dgm:cxn modelId="{F27435CE-A612-4D97-93D8-693F3124428F}" type="presParOf" srcId="{B981DA8F-EBE6-4872-89DC-398E0A74BC8A}" destId="{4F8059F6-1EB1-4F60-917B-F3A87067DB3A}" srcOrd="4" destOrd="0" presId="urn:microsoft.com/office/officeart/2018/2/layout/IconVerticalSolidList"/>
    <dgm:cxn modelId="{C83F7FEE-A010-407C-BE3A-C6ECB9D176FF}" type="presParOf" srcId="{4F8059F6-1EB1-4F60-917B-F3A87067DB3A}" destId="{D0783A6D-DF42-4B66-BD94-6DDB0AC28C9D}" srcOrd="0" destOrd="0" presId="urn:microsoft.com/office/officeart/2018/2/layout/IconVerticalSolidList"/>
    <dgm:cxn modelId="{9847942E-BC6F-47EE-9941-73A21F491CF1}" type="presParOf" srcId="{4F8059F6-1EB1-4F60-917B-F3A87067DB3A}" destId="{12CEF199-53BA-4F76-82F2-184421E764F6}" srcOrd="1" destOrd="0" presId="urn:microsoft.com/office/officeart/2018/2/layout/IconVerticalSolidList"/>
    <dgm:cxn modelId="{8137A8DB-4EC1-4235-9EF3-8C3FE86B2045}" type="presParOf" srcId="{4F8059F6-1EB1-4F60-917B-F3A87067DB3A}" destId="{BB1B7884-0E78-412B-B9ED-2CF01824FF08}" srcOrd="2" destOrd="0" presId="urn:microsoft.com/office/officeart/2018/2/layout/IconVerticalSolidList"/>
    <dgm:cxn modelId="{ACC2C7EE-98A3-467A-8B1C-5B26DAAA4750}" type="presParOf" srcId="{4F8059F6-1EB1-4F60-917B-F3A87067DB3A}" destId="{F67E244D-1270-430E-98F7-488B2D550ECD}" srcOrd="3" destOrd="0" presId="urn:microsoft.com/office/officeart/2018/2/layout/IconVerticalSolidList"/>
    <dgm:cxn modelId="{F2F5C397-7816-41EF-9DCE-6F1A434EBFAE}" type="presParOf" srcId="{B981DA8F-EBE6-4872-89DC-398E0A74BC8A}" destId="{9B9F131D-7AD5-4C7C-B748-5605856152E9}" srcOrd="5" destOrd="0" presId="urn:microsoft.com/office/officeart/2018/2/layout/IconVerticalSolidList"/>
    <dgm:cxn modelId="{0D5D0E21-B432-4B72-95F1-C1687DCD26DA}" type="presParOf" srcId="{B981DA8F-EBE6-4872-89DC-398E0A74BC8A}" destId="{BD6DFD49-75DB-4943-8DE9-A21178136D98}" srcOrd="6" destOrd="0" presId="urn:microsoft.com/office/officeart/2018/2/layout/IconVerticalSolidList"/>
    <dgm:cxn modelId="{A4330D6B-A10A-4E98-BD0B-66D0D14610FC}" type="presParOf" srcId="{BD6DFD49-75DB-4943-8DE9-A21178136D98}" destId="{24D7CF32-FC6C-4748-BBFB-BD3CAF72C60B}" srcOrd="0" destOrd="0" presId="urn:microsoft.com/office/officeart/2018/2/layout/IconVerticalSolidList"/>
    <dgm:cxn modelId="{C7635C0B-4E19-4CC5-B681-14FDC1B837C0}" type="presParOf" srcId="{BD6DFD49-75DB-4943-8DE9-A21178136D98}" destId="{1A5A7960-10DD-4BF8-B772-407FFE06DF95}" srcOrd="1" destOrd="0" presId="urn:microsoft.com/office/officeart/2018/2/layout/IconVerticalSolidList"/>
    <dgm:cxn modelId="{E0525CA6-8E74-4960-9216-EF3885A78231}" type="presParOf" srcId="{BD6DFD49-75DB-4943-8DE9-A21178136D98}" destId="{0126DFDA-311C-427D-8F2F-C5E66E6FE958}" srcOrd="2" destOrd="0" presId="urn:microsoft.com/office/officeart/2018/2/layout/IconVerticalSolidList"/>
    <dgm:cxn modelId="{3C4207D2-3E71-4A4A-B0A8-53764437B3B7}" type="presParOf" srcId="{BD6DFD49-75DB-4943-8DE9-A21178136D98}" destId="{592AAAD1-2F47-447A-ADC3-C2B36B1FCA55}" srcOrd="3" destOrd="0" presId="urn:microsoft.com/office/officeart/2018/2/layout/IconVerticalSolidList"/>
    <dgm:cxn modelId="{E1C9CF9D-33A2-4A0C-B1F4-D11E3BEDA275}" type="presParOf" srcId="{B981DA8F-EBE6-4872-89DC-398E0A74BC8A}" destId="{EA4D750C-C492-44BB-A487-EBD724549700}" srcOrd="7" destOrd="0" presId="urn:microsoft.com/office/officeart/2018/2/layout/IconVerticalSolidList"/>
    <dgm:cxn modelId="{95FCEE10-46C2-4525-B5D7-EFDBC42D9A1D}" type="presParOf" srcId="{B981DA8F-EBE6-4872-89DC-398E0A74BC8A}" destId="{426BE54F-DCD7-47DD-8FC2-6E521AF694E8}" srcOrd="8" destOrd="0" presId="urn:microsoft.com/office/officeart/2018/2/layout/IconVerticalSolidList"/>
    <dgm:cxn modelId="{FCB41F44-973F-431E-9E09-C2047917EBEC}" type="presParOf" srcId="{426BE54F-DCD7-47DD-8FC2-6E521AF694E8}" destId="{666E2735-CA78-4D3B-9578-E51196DA70D9}" srcOrd="0" destOrd="0" presId="urn:microsoft.com/office/officeart/2018/2/layout/IconVerticalSolidList"/>
    <dgm:cxn modelId="{008EE580-4D78-4689-80C6-C5FC80D38351}" type="presParOf" srcId="{426BE54F-DCD7-47DD-8FC2-6E521AF694E8}" destId="{3FA6C01F-8168-4711-B087-BDCE72097D44}" srcOrd="1" destOrd="0" presId="urn:microsoft.com/office/officeart/2018/2/layout/IconVerticalSolidList"/>
    <dgm:cxn modelId="{B6253354-4631-48B5-A064-978F34DCCBAD}" type="presParOf" srcId="{426BE54F-DCD7-47DD-8FC2-6E521AF694E8}" destId="{9854D06F-30BB-4075-8695-D112DD2A0F9E}" srcOrd="2" destOrd="0" presId="urn:microsoft.com/office/officeart/2018/2/layout/IconVerticalSolidList"/>
    <dgm:cxn modelId="{02DAD2E1-7EF5-4C95-9898-31ED92ACA260}" type="presParOf" srcId="{426BE54F-DCD7-47DD-8FC2-6E521AF694E8}" destId="{64F2101E-37B6-4A91-8969-9CAE8E240584}" srcOrd="3" destOrd="0" presId="urn:microsoft.com/office/officeart/2018/2/layout/IconVerticalSolidList"/>
    <dgm:cxn modelId="{00F6BF17-B4C5-4390-BECF-B27699C77098}" type="presParOf" srcId="{B981DA8F-EBE6-4872-89DC-398E0A74BC8A}" destId="{FB2EE507-96E0-48EB-8595-80DCEA9B248E}" srcOrd="9" destOrd="0" presId="urn:microsoft.com/office/officeart/2018/2/layout/IconVerticalSolidList"/>
    <dgm:cxn modelId="{0D88C996-3B2A-4053-99BC-165BC98E0D00}" type="presParOf" srcId="{B981DA8F-EBE6-4872-89DC-398E0A74BC8A}" destId="{1D689B0F-01EC-4228-B193-06986BAC4AC0}" srcOrd="10" destOrd="0" presId="urn:microsoft.com/office/officeart/2018/2/layout/IconVerticalSolidList"/>
    <dgm:cxn modelId="{3A18BAC9-062F-4DC7-ABAA-76A5B6A56C3C}" type="presParOf" srcId="{1D689B0F-01EC-4228-B193-06986BAC4AC0}" destId="{1B466F9E-EE2C-4F8C-B2EE-0427D8DB34C2}" srcOrd="0" destOrd="0" presId="urn:microsoft.com/office/officeart/2018/2/layout/IconVerticalSolidList"/>
    <dgm:cxn modelId="{9AF26296-6DF7-4BC3-9CF5-54DCDB99B1C4}" type="presParOf" srcId="{1D689B0F-01EC-4228-B193-06986BAC4AC0}" destId="{3A8C03A0-3919-44AB-B03C-4D473190151D}" srcOrd="1" destOrd="0" presId="urn:microsoft.com/office/officeart/2018/2/layout/IconVerticalSolidList"/>
    <dgm:cxn modelId="{BA68F1DB-232D-4924-9C50-E73C35D985F1}" type="presParOf" srcId="{1D689B0F-01EC-4228-B193-06986BAC4AC0}" destId="{BD1770DF-61D6-416C-9FF2-9A76C044944B}" srcOrd="2" destOrd="0" presId="urn:microsoft.com/office/officeart/2018/2/layout/IconVerticalSolidList"/>
    <dgm:cxn modelId="{7F3DD52E-F71C-41A9-AB60-E6A01325CDF2}" type="presParOf" srcId="{1D689B0F-01EC-4228-B193-06986BAC4AC0}" destId="{450821D5-1256-4458-8590-FE93415F8374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ED40233-E8FE-4A3D-A9C5-E7F81AFE78ED}">
      <dsp:nvSpPr>
        <dsp:cNvPr id="0" name=""/>
        <dsp:cNvSpPr/>
      </dsp:nvSpPr>
      <dsp:spPr>
        <a:xfrm>
          <a:off x="0" y="1407"/>
          <a:ext cx="10515600" cy="59979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68A8300B-22F1-48FF-B853-989F40E20B89}">
      <dsp:nvSpPr>
        <dsp:cNvPr id="0" name=""/>
        <dsp:cNvSpPr/>
      </dsp:nvSpPr>
      <dsp:spPr>
        <a:xfrm>
          <a:off x="181438" y="136361"/>
          <a:ext cx="329887" cy="32988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3B66BFF7-840C-4EEC-926A-DEF1B410FD5A}">
      <dsp:nvSpPr>
        <dsp:cNvPr id="0" name=""/>
        <dsp:cNvSpPr/>
      </dsp:nvSpPr>
      <dsp:spPr>
        <a:xfrm>
          <a:off x="692764" y="1407"/>
          <a:ext cx="9822835" cy="599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478" tIns="63478" rIns="63478" bIns="63478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Introduction (try to answer what it is, why it is,  and what is  (are) existing problems, why the problem is so important to discuss; may cite in the footer)</a:t>
          </a:r>
        </a:p>
      </dsp:txBody>
      <dsp:txXfrm>
        <a:off x="692764" y="1407"/>
        <a:ext cx="9822835" cy="599796"/>
      </dsp:txXfrm>
    </dsp:sp>
    <dsp:sp modelId="{8828A0E7-8D5C-498A-810B-3AF32E42D9B2}">
      <dsp:nvSpPr>
        <dsp:cNvPr id="0" name=""/>
        <dsp:cNvSpPr/>
      </dsp:nvSpPr>
      <dsp:spPr>
        <a:xfrm>
          <a:off x="0" y="751152"/>
          <a:ext cx="10515600" cy="59979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9389BE19-F2A1-4F89-BCBB-70F61DDF6677}">
      <dsp:nvSpPr>
        <dsp:cNvPr id="0" name=""/>
        <dsp:cNvSpPr/>
      </dsp:nvSpPr>
      <dsp:spPr>
        <a:xfrm>
          <a:off x="181438" y="886107"/>
          <a:ext cx="329887" cy="32988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35C810EE-2820-4A16-BB8B-B0FF159B569B}">
      <dsp:nvSpPr>
        <dsp:cNvPr id="0" name=""/>
        <dsp:cNvSpPr/>
      </dsp:nvSpPr>
      <dsp:spPr>
        <a:xfrm>
          <a:off x="692764" y="751152"/>
          <a:ext cx="9822835" cy="599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478" tIns="63478" rIns="63478" bIns="63478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Motivation &amp; Contributions</a:t>
          </a:r>
        </a:p>
      </dsp:txBody>
      <dsp:txXfrm>
        <a:off x="692764" y="751152"/>
        <a:ext cx="9822835" cy="599796"/>
      </dsp:txXfrm>
    </dsp:sp>
    <dsp:sp modelId="{D0783A6D-DF42-4B66-BD94-6DDB0AC28C9D}">
      <dsp:nvSpPr>
        <dsp:cNvPr id="0" name=""/>
        <dsp:cNvSpPr/>
      </dsp:nvSpPr>
      <dsp:spPr>
        <a:xfrm>
          <a:off x="0" y="1500898"/>
          <a:ext cx="10515600" cy="59979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12CEF199-53BA-4F76-82F2-184421E764F6}">
      <dsp:nvSpPr>
        <dsp:cNvPr id="0" name=""/>
        <dsp:cNvSpPr/>
      </dsp:nvSpPr>
      <dsp:spPr>
        <a:xfrm>
          <a:off x="181438" y="1635852"/>
          <a:ext cx="329887" cy="32988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F67E244D-1270-430E-98F7-488B2D550ECD}">
      <dsp:nvSpPr>
        <dsp:cNvPr id="0" name=""/>
        <dsp:cNvSpPr/>
      </dsp:nvSpPr>
      <dsp:spPr>
        <a:xfrm>
          <a:off x="692764" y="1500898"/>
          <a:ext cx="9822835" cy="599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478" tIns="63478" rIns="63478" bIns="63478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Proposed System Model</a:t>
          </a:r>
        </a:p>
      </dsp:txBody>
      <dsp:txXfrm>
        <a:off x="692764" y="1500898"/>
        <a:ext cx="9822835" cy="599796"/>
      </dsp:txXfrm>
    </dsp:sp>
    <dsp:sp modelId="{24D7CF32-FC6C-4748-BBFB-BD3CAF72C60B}">
      <dsp:nvSpPr>
        <dsp:cNvPr id="0" name=""/>
        <dsp:cNvSpPr/>
      </dsp:nvSpPr>
      <dsp:spPr>
        <a:xfrm>
          <a:off x="0" y="2250643"/>
          <a:ext cx="10515600" cy="59979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1A5A7960-10DD-4BF8-B772-407FFE06DF95}">
      <dsp:nvSpPr>
        <dsp:cNvPr id="0" name=""/>
        <dsp:cNvSpPr/>
      </dsp:nvSpPr>
      <dsp:spPr>
        <a:xfrm>
          <a:off x="181438" y="2385597"/>
          <a:ext cx="329887" cy="329887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592AAAD1-2F47-447A-ADC3-C2B36B1FCA55}">
      <dsp:nvSpPr>
        <dsp:cNvPr id="0" name=""/>
        <dsp:cNvSpPr/>
      </dsp:nvSpPr>
      <dsp:spPr>
        <a:xfrm>
          <a:off x="692764" y="2250643"/>
          <a:ext cx="9822835" cy="599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478" tIns="63478" rIns="63478" bIns="63478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Results and Discussion</a:t>
          </a:r>
        </a:p>
      </dsp:txBody>
      <dsp:txXfrm>
        <a:off x="692764" y="2250643"/>
        <a:ext cx="9822835" cy="599796"/>
      </dsp:txXfrm>
    </dsp:sp>
    <dsp:sp modelId="{666E2735-CA78-4D3B-9578-E51196DA70D9}">
      <dsp:nvSpPr>
        <dsp:cNvPr id="0" name=""/>
        <dsp:cNvSpPr/>
      </dsp:nvSpPr>
      <dsp:spPr>
        <a:xfrm>
          <a:off x="0" y="3000388"/>
          <a:ext cx="10515600" cy="59979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3FA6C01F-8168-4711-B087-BDCE72097D44}">
      <dsp:nvSpPr>
        <dsp:cNvPr id="0" name=""/>
        <dsp:cNvSpPr/>
      </dsp:nvSpPr>
      <dsp:spPr>
        <a:xfrm>
          <a:off x="181438" y="3135342"/>
          <a:ext cx="329887" cy="329887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64F2101E-37B6-4A91-8969-9CAE8E240584}">
      <dsp:nvSpPr>
        <dsp:cNvPr id="0" name=""/>
        <dsp:cNvSpPr/>
      </dsp:nvSpPr>
      <dsp:spPr>
        <a:xfrm>
          <a:off x="692764" y="3000388"/>
          <a:ext cx="9822835" cy="599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478" tIns="63478" rIns="63478" bIns="63478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Conclusion</a:t>
          </a:r>
        </a:p>
      </dsp:txBody>
      <dsp:txXfrm>
        <a:off x="692764" y="3000388"/>
        <a:ext cx="9822835" cy="599796"/>
      </dsp:txXfrm>
    </dsp:sp>
    <dsp:sp modelId="{1B466F9E-EE2C-4F8C-B2EE-0427D8DB34C2}">
      <dsp:nvSpPr>
        <dsp:cNvPr id="0" name=""/>
        <dsp:cNvSpPr/>
      </dsp:nvSpPr>
      <dsp:spPr>
        <a:xfrm>
          <a:off x="0" y="3750134"/>
          <a:ext cx="10515600" cy="59979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3A8C03A0-3919-44AB-B03C-4D473190151D}">
      <dsp:nvSpPr>
        <dsp:cNvPr id="0" name=""/>
        <dsp:cNvSpPr/>
      </dsp:nvSpPr>
      <dsp:spPr>
        <a:xfrm>
          <a:off x="181438" y="3885088"/>
          <a:ext cx="329887" cy="329887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450821D5-1256-4458-8590-FE93415F8374}">
      <dsp:nvSpPr>
        <dsp:cNvPr id="0" name=""/>
        <dsp:cNvSpPr/>
      </dsp:nvSpPr>
      <dsp:spPr>
        <a:xfrm>
          <a:off x="692764" y="3750134"/>
          <a:ext cx="9822835" cy="599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478" tIns="63478" rIns="63478" bIns="63478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Reference</a:t>
          </a:r>
        </a:p>
      </dsp:txBody>
      <dsp:txXfrm>
        <a:off x="692764" y="3750134"/>
        <a:ext cx="9822835" cy="59979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134D7D-382B-4E04-AFC5-53E0375D9FB6}" type="datetimeFigureOut">
              <a:rPr lang="en-IN" smtClean="0"/>
              <a:t>01-11-2025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C3FBDD-3EFC-42F9-833C-52E1A90E77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19256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C3FBDD-3EFC-42F9-833C-52E1A90E7710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97864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033AD2-8C4A-9821-AAAC-7E103E855A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C905DD-8278-F9B5-E6CA-F4F9F52E1A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3B601A-E7ED-CB8E-EF2F-C6BC812A9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45CFDC-8ACB-436C-8AA1-D7A53CB73F5C}" type="datetimeFigureOut">
              <a:rPr lang="en-IN" smtClean="0"/>
              <a:t>01-11-2025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BFE0A5-AF03-073D-0DCF-DF928A32F3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09D731-B10F-C233-A271-0F846598CF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B606F-A890-40C9-9B32-5BB4650992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52317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1918EB-B113-72FA-BDB5-1534D68665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D43801-B6E1-9603-C7C3-6CA1B73E73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69EAC3-14CE-5AED-EBBA-524E389C4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45CFDC-8ACB-436C-8AA1-D7A53CB73F5C}" type="datetimeFigureOut">
              <a:rPr lang="en-IN" smtClean="0"/>
              <a:t>01-11-2025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CA116E-C9C6-A170-195A-12C69AC83D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EE9DFF-8E44-CFA0-9AFD-830BE00E3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B606F-A890-40C9-9B32-5BB4650992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79449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611376-5A2E-6677-4087-F28D6F5038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29898D-0B77-32E8-5442-325E468CAF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058CC-ABCE-B78D-B8C7-C265C01336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45CFDC-8ACB-436C-8AA1-D7A53CB73F5C}" type="datetimeFigureOut">
              <a:rPr lang="en-IN" smtClean="0"/>
              <a:t>01-11-2025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E76DED-79CE-EA5E-6C63-9CF2737242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20DE22-0795-65D4-1184-06E2E35110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B606F-A890-40C9-9B32-5BB4650992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6205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AD71A1-1674-52C8-ECD4-92A9347227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DB2A5E-3929-3271-AC24-DF4F4C7D4E7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4B36B7-607B-853B-F7DF-4BDA36D39C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4E313F-EC56-15C2-596E-733070BE8E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45CFDC-8ACB-436C-8AA1-D7A53CB73F5C}" type="datetimeFigureOut">
              <a:rPr lang="en-IN" smtClean="0"/>
              <a:t>01-11-2025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090433-FB9E-9DE0-9B31-41B9260C85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519218-F270-121B-1B4D-D93A8D8371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B606F-A890-40C9-9B32-5BB4650992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64759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24D2BC-0C65-28B8-E5E3-456B3B41BA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33D9D8-BE10-9455-7209-A9B0392319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03B2E2-CFD2-F1D3-B465-F4E980D3D4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E6332C1-1C50-08F9-1F10-E511030B83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9D5FB9B-F2E2-7881-D3D3-EF047359533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0FF4199-B492-4C34-9D0F-5953D38BBC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45CFDC-8ACB-436C-8AA1-D7A53CB73F5C}" type="datetimeFigureOut">
              <a:rPr lang="en-IN" smtClean="0"/>
              <a:t>01-11-2025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70326D4-E240-8193-7ED4-3102E9B40F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FA9AB64-DDC5-BB23-E175-EF8B1CB130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B606F-A890-40C9-9B32-5BB4650992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02015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1D139C-CE67-82AE-954A-6185AF9EEE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79AE0E0-EE7B-F153-2702-C2CA5E0106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45CFDC-8ACB-436C-8AA1-D7A53CB73F5C}" type="datetimeFigureOut">
              <a:rPr lang="en-IN" smtClean="0"/>
              <a:t>01-11-2025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A31824A-E2F0-CB58-19FC-7B918942D0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9E26FC-CD2E-7DEC-AFD1-BA69CF6052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B606F-A890-40C9-9B32-5BB4650992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46283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F76821F-98EF-7E46-8A33-973D9AEE0B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45CFDC-8ACB-436C-8AA1-D7A53CB73F5C}" type="datetimeFigureOut">
              <a:rPr lang="en-IN" smtClean="0"/>
              <a:t>01-11-2025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5FD3029-5B0D-1739-FD6F-E4D7F8FBDD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FE61D0-197D-B2B2-49DD-E37C54B69E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B606F-A890-40C9-9B32-5BB4650992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60716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0E689-EB6F-CFF6-84D9-949B4DE29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4E6BAE-3DC6-A03E-B4D6-46C99E6342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F4DCF4-FDD7-97A2-758A-B3252E5EC1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8CBDE6-2D92-DACF-17A5-F997EF8CC0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45CFDC-8ACB-436C-8AA1-D7A53CB73F5C}" type="datetimeFigureOut">
              <a:rPr lang="en-IN" smtClean="0"/>
              <a:t>01-11-2025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D47FFD-6C20-30CE-9760-FD39F0145D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A1A678-F8D2-AAB7-14A7-DEE217DC15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B606F-A890-40C9-9B32-5BB4650992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60592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FFD9DC-5F58-7025-893F-1DAFB6E65C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53EC55B-420A-3B1E-A68A-7E3AADA8AF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BCBD78-2057-5A67-5000-9E0D5B3FEE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9FB661-0ABE-74F8-2444-4429D24CA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45CFDC-8ACB-436C-8AA1-D7A53CB73F5C}" type="datetimeFigureOut">
              <a:rPr lang="en-IN" smtClean="0"/>
              <a:t>01-11-2025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8A8186-798B-531D-D910-29870272C7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D27543-963E-82A2-BF04-B84736486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B606F-A890-40C9-9B32-5BB4650992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48258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C36283-85B9-AC00-0E4F-20E27C5DB1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59364C-06F5-6E60-89F6-BE3D3CD1CC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48B14D-5107-01B3-115B-E1FB801EBD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45CFDC-8ACB-436C-8AA1-D7A53CB73F5C}" type="datetimeFigureOut">
              <a:rPr lang="en-IN" smtClean="0"/>
              <a:t>01-11-2025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0BEF9E-2ECE-FDD3-3DF1-06ADF338C2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959C63-8F45-E0A1-2618-05D2A98CB8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B606F-A890-40C9-9B32-5BB4650992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00321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C9FE5C0-89AA-EAA6-CE5D-8DE05E15416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98E9EA8-6033-A9D4-F937-E051CD0833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B7451C-7A4C-8AF7-A61A-671DE2EBD2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45CFDC-8ACB-436C-8AA1-D7A53CB73F5C}" type="datetimeFigureOut">
              <a:rPr lang="en-IN" smtClean="0"/>
              <a:t>01-11-2025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5A0A70-B8A1-54DF-B5BA-0FB755B283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8D3DB8-D4A2-AF2E-7109-8AEA85E7D5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B606F-A890-40C9-9B32-5BB4650992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76416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415DCBB-6F10-ED9A-9075-252DD0BF15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7586F1-754D-953B-56D9-8D39C11F11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82AA8E-E7FC-649F-E159-A0E49853477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A45CFDC-8ACB-436C-8AA1-D7A53CB73F5C}" type="datetimeFigureOut">
              <a:rPr lang="en-IN" smtClean="0"/>
              <a:t>01-11-2025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4D6950-29F4-F30B-2E7C-793287A713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0B3C7C-4A36-7024-ED42-3C90E84B73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1B606F-A890-40C9-9B32-5BB4650992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13289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3.pn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jp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jpg"/><Relationship Id="rId4" Type="http://schemas.openxmlformats.org/officeDocument/2006/relationships/image" Target="../media/image20.jpg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roup 56">
            <a:extLst>
              <a:ext uri="{FF2B5EF4-FFF2-40B4-BE49-F238E27FC236}">
                <a16:creationId xmlns:a16="http://schemas.microsoft.com/office/drawing/2014/main" id="{C552714D-0746-516F-8E04-8CD9710DDD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V="1">
            <a:off x="0" y="4851085"/>
            <a:ext cx="12202174" cy="2020500"/>
            <a:chOff x="0" y="-29768"/>
            <a:chExt cx="12202174" cy="1519356"/>
          </a:xfrm>
        </p:grpSpPr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FCA41354-436C-9656-0817-56B6CF8CDB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5341412" y="-5371175"/>
              <a:ext cx="1519350" cy="12202174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0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27863EEE-38BD-6BC9-BA81-2F33679D35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9289101" y="-1429602"/>
              <a:ext cx="1507122" cy="4319024"/>
            </a:xfrm>
            <a:prstGeom prst="rect">
              <a:avLst/>
            </a:prstGeom>
            <a:gradFill>
              <a:gsLst>
                <a:gs pos="5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1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B0A65459-0869-1AF9-758A-0BF65F1282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2880884" y="-2910652"/>
              <a:ext cx="1519356" cy="7281123"/>
            </a:xfrm>
            <a:prstGeom prst="rect">
              <a:avLst/>
            </a:prstGeom>
            <a:gradFill>
              <a:gsLst>
                <a:gs pos="2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75000"/>
                    <a:alpha val="70000"/>
                  </a:schemeClr>
                </a:gs>
              </a:gsLst>
              <a:lin ang="10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029FF46-934D-281C-4788-4DBBD17328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21155" y="340382"/>
            <a:ext cx="8949690" cy="70226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2025 IEEE </a:t>
            </a:r>
            <a:r>
              <a:rPr lang="en-US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iSSSC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483C19-D74C-6BAB-F2B0-CB88756A2F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06801" y="1142013"/>
            <a:ext cx="8949689" cy="504645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2025 IEEE 3</a:t>
            </a:r>
            <a:r>
              <a:rPr lang="en-US" sz="18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rd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International Symposium on Sustainable Energy, Signal Processing &amp; </a:t>
            </a:r>
            <a:r>
              <a:rPr 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CyberSecurity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indent="-228600">
              <a:buFont typeface="Arial" panose="020B0604020202020204" pitchFamily="34" charset="0"/>
              <a:buChar char="•"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977B052-A708-C74F-78C4-27D5A61522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533184" y="2635044"/>
            <a:ext cx="2554872" cy="1690745"/>
          </a:xfrm>
          <a:prstGeom prst="rect">
            <a:avLst/>
          </a:prstGeom>
          <a:noFill/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DA244468-B6C5-31B2-D3D9-194999B7315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807974" y="2635044"/>
            <a:ext cx="2625213" cy="1690746"/>
          </a:xfrm>
          <a:prstGeom prst="rect">
            <a:avLst/>
          </a:prstGeom>
          <a:noFill/>
        </p:spPr>
      </p:pic>
      <p:pic>
        <p:nvPicPr>
          <p:cNvPr id="8" name="Picture 4" descr="Future Archives - GIET University | Odisha | Gunupur">
            <a:extLst>
              <a:ext uri="{FF2B5EF4-FFF2-40B4-BE49-F238E27FC236}">
                <a16:creationId xmlns:a16="http://schemas.microsoft.com/office/drawing/2014/main" id="{9896EF33-D53E-025C-9029-9B7C4F96BF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792308" y="2512087"/>
            <a:ext cx="2318144" cy="19271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 descr="IEEE-iSSSC 2025">
            <a:extLst>
              <a:ext uri="{FF2B5EF4-FFF2-40B4-BE49-F238E27FC236}">
                <a16:creationId xmlns:a16="http://schemas.microsoft.com/office/drawing/2014/main" id="{2BAD6A66-FA72-E39F-9434-A393452A748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50000"/>
                    </a14:imgEffect>
                    <a14:imgEffect>
                      <a14:saturation sat="0"/>
                    </a14:imgEffect>
                    <a14:imgEffect>
                      <a14:brightnessContrast bright="-4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85987" y="14386"/>
            <a:ext cx="1406013" cy="766844"/>
          </a:xfrm>
          <a:prstGeom prst="rect">
            <a:avLst/>
          </a:prstGeom>
          <a:noFill/>
          <a:ln>
            <a:noFill/>
          </a:ln>
        </p:spPr>
      </p:pic>
      <p:pic>
        <p:nvPicPr>
          <p:cNvPr id="34" name="Picture 33" descr="PECTEA 2025">
            <a:extLst>
              <a:ext uri="{FF2B5EF4-FFF2-40B4-BE49-F238E27FC236}">
                <a16:creationId xmlns:a16="http://schemas.microsoft.com/office/drawing/2014/main" id="{A5E7BF9E-3CF7-E17C-3082-225729AF8544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6" t="27047" r="9252" b="24555"/>
          <a:stretch/>
        </p:blipFill>
        <p:spPr bwMode="auto">
          <a:xfrm>
            <a:off x="1" y="12481"/>
            <a:ext cx="1238864" cy="763867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46DFEB3E-6DE8-7160-DA14-35C64272770B}"/>
              </a:ext>
            </a:extLst>
          </p:cNvPr>
          <p:cNvSpPr txBox="1"/>
          <p:nvPr/>
        </p:nvSpPr>
        <p:spPr>
          <a:xfrm>
            <a:off x="405737" y="4791808"/>
            <a:ext cx="11380525" cy="21390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Paper Title: </a:t>
            </a:r>
            <a:r>
              <a:rPr lang="en-US" sz="1900" dirty="0"/>
              <a:t>HFS-VAE: A Hierarchical Feature-Splitting Variational Autoencoder for Interpretable and Robust Network Intrusion Detection</a:t>
            </a:r>
          </a:p>
          <a:p>
            <a:pPr algn="ctr"/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Paper ID:  </a:t>
            </a:r>
            <a:r>
              <a:rPr lang="en-IN" sz="1900" dirty="0"/>
              <a:t>ISSSC-790</a:t>
            </a:r>
            <a:endParaRPr lang="en-IN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Presenter Name: </a:t>
            </a:r>
            <a:r>
              <a:rPr lang="en-IN" sz="1900" dirty="0"/>
              <a:t>Shaik Mohammad Thaheer</a:t>
            </a:r>
          </a:p>
          <a:p>
            <a:pPr algn="ctr"/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Authors: </a:t>
            </a:r>
            <a:r>
              <a:rPr lang="en-IN" sz="1900" dirty="0" err="1"/>
              <a:t>Munnangi</a:t>
            </a:r>
            <a:r>
              <a:rPr lang="en-IN" sz="1900" dirty="0"/>
              <a:t> Suresh , Shaik Mohammad Thaheer , </a:t>
            </a:r>
            <a:r>
              <a:rPr lang="en-IN" sz="1900" dirty="0" err="1"/>
              <a:t>Derangula</a:t>
            </a:r>
            <a:r>
              <a:rPr lang="en-IN" sz="1900" dirty="0"/>
              <a:t> Durga Rao , Shaik </a:t>
            </a:r>
            <a:r>
              <a:rPr lang="en-IN" sz="1900" dirty="0" err="1"/>
              <a:t>Mannepalli</a:t>
            </a:r>
            <a:r>
              <a:rPr lang="en-IN" sz="1900" dirty="0"/>
              <a:t>      </a:t>
            </a:r>
            <a:r>
              <a:rPr lang="en-IN" sz="1900" dirty="0" err="1"/>
              <a:t>Mastanvali</a:t>
            </a:r>
            <a:r>
              <a:rPr lang="en-IN" sz="1900" dirty="0"/>
              <a:t> , </a:t>
            </a:r>
            <a:r>
              <a:rPr lang="en-IN" sz="1900" dirty="0" err="1"/>
              <a:t>Panduri</a:t>
            </a:r>
            <a:r>
              <a:rPr lang="en-IN" sz="1900" dirty="0"/>
              <a:t> Bharathi , Vavilala Divya Raj , Dr. Sireesha Moturi</a:t>
            </a: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Affiliation: Student, </a:t>
            </a:r>
            <a:r>
              <a:rPr lang="en-US" sz="1900" dirty="0"/>
              <a:t>Department of CSE, </a:t>
            </a:r>
            <a:r>
              <a:rPr lang="en-US" sz="1900" dirty="0" err="1"/>
              <a:t>Narasaraopeta</a:t>
            </a:r>
            <a:r>
              <a:rPr lang="en-US" sz="1900" dirty="0"/>
              <a:t> Engineering College, Andhra Pradesh, India</a:t>
            </a: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09128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4" descr="Future Archives - GIET University | Odisha | Gunupur">
            <a:extLst>
              <a:ext uri="{FF2B5EF4-FFF2-40B4-BE49-F238E27FC236}">
                <a16:creationId xmlns:a16="http://schemas.microsoft.com/office/drawing/2014/main" id="{2D5BAE0E-0F08-84DE-3066-AE05EF89A9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477" b="23515"/>
          <a:stretch>
            <a:fillRect/>
          </a:stretch>
        </p:blipFill>
        <p:spPr bwMode="auto">
          <a:xfrm>
            <a:off x="20" y="10"/>
            <a:ext cx="12191980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5" name="Rectangle 104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3BCE52-8982-A32D-4BD8-8DD4186084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Outline</a:t>
            </a:r>
            <a:endParaRPr lang="en-IN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3" name="Content Placeholder 2">
            <a:extLst>
              <a:ext uri="{FF2B5EF4-FFF2-40B4-BE49-F238E27FC236}">
                <a16:creationId xmlns:a16="http://schemas.microsoft.com/office/drawing/2014/main" id="{7631F7ED-D135-7CCE-B7EB-67B04AC7834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59087361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26555615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5" name="Rectangle 44">
            <a:extLst>
              <a:ext uri="{FF2B5EF4-FFF2-40B4-BE49-F238E27FC236}">
                <a16:creationId xmlns:a16="http://schemas.microsoft.com/office/drawing/2014/main" id="{979E27D9-03C7-44E2-9FF8-15D0C8506A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26285B2-8646-AEDA-0D23-98C44F1968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9379" y="-807099"/>
            <a:ext cx="10153484" cy="1642969"/>
          </a:xfrm>
        </p:spPr>
        <p:txBody>
          <a:bodyPr anchor="b">
            <a:norm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4000" dirty="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EEBF1590-3B36-48EE-A89D-3B6F3CB256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AC8F6C8C-AB5A-4548-942D-E3FD40ACBC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IEEE-iSSSC 2025">
            <a:extLst>
              <a:ext uri="{FF2B5EF4-FFF2-40B4-BE49-F238E27FC236}">
                <a16:creationId xmlns:a16="http://schemas.microsoft.com/office/drawing/2014/main" id="{FFC9DEF9-0C7F-75E8-9A7B-1D53386BBAD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saturation sat="0"/>
                    </a14:imgEffect>
                    <a14:imgEffect>
                      <a14:brightnessContrast bright="-4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85987" y="14386"/>
            <a:ext cx="1406013" cy="766844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CE6525A4-DF9B-CA73-EAA4-36C5FDB402E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60585" y="1077311"/>
            <a:ext cx="11128408" cy="41857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rapid growth of networks and smart devices has increased the risk of cyberattacks.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altLang="en-US" sz="1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NIDS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play a key role in detecting abnormal or malicious network activity.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altLang="en-US" sz="1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Traditional </a:t>
            </a:r>
            <a:r>
              <a:rPr kumimoji="0" lang="en-US" altLang="en-US" sz="1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signature-based NIDS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fail to detect new or zero-day attacks.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altLang="en-US" sz="1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Existing systems struggle to handle </a:t>
            </a:r>
            <a:r>
              <a:rPr kumimoji="0" lang="en-US" altLang="en-US" sz="1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large-scale and complex network data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altLang="en-US" sz="1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Deep learning–based NIDS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improve detection but lack interpretability and robustness.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altLang="en-US" sz="1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Models are often </a:t>
            </a:r>
            <a:r>
              <a:rPr kumimoji="0" lang="en-US" altLang="en-US" sz="1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vulnerable to adversarial inputs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fail to generalize across datasets.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altLang="en-US" sz="1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proposed </a:t>
            </a:r>
            <a:r>
              <a:rPr kumimoji="0" lang="en-US" altLang="en-US" sz="1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HFS-VAE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enhances </a:t>
            </a:r>
            <a:r>
              <a:rPr kumimoji="0" lang="en-US" altLang="en-US" sz="1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clarity, robustness, and detection accuracy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through </a:t>
            </a:r>
            <a:r>
              <a:rPr kumimoji="0" lang="en-US" altLang="en-US" sz="1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hierarchical feature-splitting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14300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979E27D9-03C7-44E2-9FF8-15D0C8506A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0F6E636-A5B2-1EAA-C50D-F62EB581CA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839" y="-758731"/>
            <a:ext cx="9688296" cy="1642969"/>
          </a:xfrm>
        </p:spPr>
        <p:txBody>
          <a:bodyPr anchor="b">
            <a:normAutofit/>
          </a:bodyPr>
          <a:lstStyle/>
          <a:p>
            <a:pPr lvl="0">
              <a:lnSpc>
                <a:spcPct val="160000"/>
              </a:lnSpc>
            </a:pPr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Motivation &amp; Core Contribution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EBF1590-3B36-48EE-A89D-3B6F3CB256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C8F6C8C-AB5A-4548-942D-E3FD40ACBC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IEEE-iSSSC 2025">
            <a:extLst>
              <a:ext uri="{FF2B5EF4-FFF2-40B4-BE49-F238E27FC236}">
                <a16:creationId xmlns:a16="http://schemas.microsoft.com/office/drawing/2014/main" id="{948299AC-D90A-71FC-201D-6A755B7DA87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saturation sat="0"/>
                    </a14:imgEffect>
                    <a14:imgEffect>
                      <a14:brightnessContrast bright="-4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85987" y="14386"/>
            <a:ext cx="1406013" cy="766844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Rectangle 2">
            <a:extLst>
              <a:ext uri="{FF2B5EF4-FFF2-40B4-BE49-F238E27FC236}">
                <a16:creationId xmlns:a16="http://schemas.microsoft.com/office/drawing/2014/main" id="{36F0BBE2-B731-DF92-19EF-2163AA0E500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23839" y="958510"/>
            <a:ext cx="11225616" cy="50629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Existing intrusion detection models often act as </a:t>
            </a:r>
            <a:r>
              <a:rPr kumimoji="0" lang="en-US" altLang="en-US" sz="1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black boxes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giving little insight into their decision process.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altLang="en-US" sz="1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Many current systems are </a:t>
            </a:r>
            <a:r>
              <a:rPr kumimoji="0" lang="en-US" altLang="en-US" sz="1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not robust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becoming unstable under noisy or adversarial network traffic.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altLang="en-US" sz="1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Most approaches are </a:t>
            </a:r>
            <a:r>
              <a:rPr kumimoji="0" lang="en-US" altLang="en-US" sz="1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dataset-dependent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fail to adapt to large or changing network environments.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altLang="en-US" sz="1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There is a growing need for </a:t>
            </a:r>
            <a:r>
              <a:rPr kumimoji="0" lang="en-US" altLang="en-US" sz="1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interpretable, scalable, and modular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intrusion detection solutions.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altLang="en-US" sz="1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proposed </a:t>
            </a:r>
            <a:r>
              <a:rPr kumimoji="0" lang="en-US" altLang="en-US" sz="1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HFS-VAE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divides network traffic into </a:t>
            </a:r>
            <a:r>
              <a:rPr kumimoji="0" lang="en-US" altLang="en-US" sz="1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flow, packet, and protocol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groups for parallel encoding.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altLang="en-US" sz="1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employs </a:t>
            </a:r>
            <a:r>
              <a:rPr kumimoji="0" lang="en-US" altLang="en-US" sz="19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XGBoost</a:t>
            </a:r>
            <a:r>
              <a:rPr kumimoji="0" lang="en-US" altLang="en-US" sz="1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classifier fusion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improve both </a:t>
            </a:r>
            <a:r>
              <a:rPr kumimoji="0" lang="en-US" altLang="en-US" sz="1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accuracy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n-US" altLang="en-US" sz="1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explainability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of detections.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altLang="en-US" sz="1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Evaluated on </a:t>
            </a:r>
            <a:r>
              <a:rPr kumimoji="0" lang="en-US" altLang="en-US" sz="1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CICIDS2017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n-US" altLang="en-US" sz="1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NSL-KDD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HFS-VAE achieved </a:t>
            </a:r>
            <a:r>
              <a:rPr kumimoji="0" lang="en-US" altLang="en-US" sz="1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 precision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strong </a:t>
            </a:r>
            <a:r>
              <a:rPr kumimoji="0" lang="en-US" altLang="en-US" sz="1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latent separation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and </a:t>
            </a:r>
            <a:r>
              <a:rPr kumimoji="0" lang="en-US" altLang="en-US" sz="1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robust performance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real-world NIDS.</a:t>
            </a:r>
          </a:p>
        </p:txBody>
      </p:sp>
    </p:spTree>
    <p:extLst>
      <p:ext uri="{BB962C8B-B14F-4D97-AF65-F5344CB8AC3E}">
        <p14:creationId xmlns:p14="http://schemas.microsoft.com/office/powerpoint/2010/main" val="6797415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C48CFE2-EF8B-FF79-F58E-C4356E898B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15199817-DE9E-7449-7585-440E56EF63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C972B1A-26A5-699F-90D3-ED1A3C7046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803" y="-760202"/>
            <a:ext cx="9688296" cy="1642969"/>
          </a:xfrm>
        </p:spPr>
        <p:txBody>
          <a:bodyPr anchor="b">
            <a:normAutofit/>
          </a:bodyPr>
          <a:lstStyle/>
          <a:p>
            <a:pPr lvl="0">
              <a:lnSpc>
                <a:spcPct val="160000"/>
              </a:lnSpc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Literature Review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6553278-C897-96FC-2F2D-B52D4923A6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FBF056B-1E9B-DCC1-7091-DEC92C0AAA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IEEE-iSSSC 2025">
            <a:extLst>
              <a:ext uri="{FF2B5EF4-FFF2-40B4-BE49-F238E27FC236}">
                <a16:creationId xmlns:a16="http://schemas.microsoft.com/office/drawing/2014/main" id="{6CE1A5B9-DD33-247B-5C69-021BA43E89C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saturation sat="0"/>
                    </a14:imgEffect>
                    <a14:imgEffect>
                      <a14:brightnessContrast bright="-4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85987" y="14386"/>
            <a:ext cx="1406013" cy="766844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Rectangle 2">
            <a:extLst>
              <a:ext uri="{FF2B5EF4-FFF2-40B4-BE49-F238E27FC236}">
                <a16:creationId xmlns:a16="http://schemas.microsoft.com/office/drawing/2014/main" id="{49CCD124-7BE4-AAAF-63A7-B3A97057C75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4803" y="1043114"/>
            <a:ext cx="11344190" cy="50629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Shone et al. (2018)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n-US" altLang="en-US" sz="19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Vinayakumar</a:t>
            </a:r>
            <a:r>
              <a:rPr kumimoji="0" lang="en-US" altLang="en-US" sz="1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et al. (2019)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used deep autoencoders for intrusion detection but lacked </a:t>
            </a:r>
            <a:r>
              <a:rPr kumimoji="0" lang="en-US" altLang="en-US" sz="19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interpretability and robustness.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altLang="en-US" sz="1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Pang et al. (2021)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highlighted that most deep anomaly detectors fail to </a:t>
            </a:r>
            <a:r>
              <a:rPr kumimoji="0" lang="en-US" altLang="en-US" sz="1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explain latent behavior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are sensitive to noise.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altLang="en-US" sz="1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He et al. (2024) – NIDS-Vis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improved interpretability using feature-space partitioning but had </a:t>
            </a:r>
            <a:r>
              <a:rPr kumimoji="0" lang="en-US" altLang="en-US" sz="1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limited scalability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n-US" altLang="en-US" sz="1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 robustness handling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altLang="en-US" sz="1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Ren et al. (2023)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n-US" altLang="en-US" sz="1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 et al. (2024)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proposed hybrid VAEs but missed </a:t>
            </a:r>
            <a:r>
              <a:rPr kumimoji="0" lang="en-US" altLang="en-US" sz="1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hierarchical feature understanding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across flow, packet, and protocol levels.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altLang="en-US" sz="1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Prior models showed </a:t>
            </a:r>
            <a:r>
              <a:rPr kumimoji="0" lang="en-US" altLang="en-US" sz="1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low recall and metric inconsistency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focusing mainly on precision without balancing detection trade-offs.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altLang="en-US" sz="1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proposed </a:t>
            </a:r>
            <a:r>
              <a:rPr kumimoji="0" lang="en-US" altLang="en-US" sz="1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HFS-VAE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fills these gaps through </a:t>
            </a:r>
            <a:r>
              <a:rPr kumimoji="0" lang="en-US" altLang="en-US" sz="1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hierarchical feature-splitting, robustness loss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and </a:t>
            </a:r>
            <a:r>
              <a:rPr kumimoji="0" lang="en-US" altLang="en-US" sz="19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XGBoost</a:t>
            </a:r>
            <a:r>
              <a:rPr kumimoji="0" lang="en-US" altLang="en-US" sz="1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fusion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achieving better </a:t>
            </a:r>
            <a:r>
              <a:rPr kumimoji="0" lang="en-US" altLang="en-US" sz="1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scalability, stability, and interpretability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on large datasets.</a:t>
            </a:r>
          </a:p>
        </p:txBody>
      </p:sp>
    </p:spTree>
    <p:extLst>
      <p:ext uri="{BB962C8B-B14F-4D97-AF65-F5344CB8AC3E}">
        <p14:creationId xmlns:p14="http://schemas.microsoft.com/office/powerpoint/2010/main" val="39775577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FFC0B7D-33C4-EF12-2AB3-BD943D8EF3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9C4FFF6F-CE43-2282-CB86-892BBCBACF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4FEED8E-49C3-2CAA-5BD6-FCCFFA8FB3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7640" y="-861739"/>
            <a:ext cx="9688296" cy="1642969"/>
          </a:xfrm>
        </p:spPr>
        <p:txBody>
          <a:bodyPr anchor="b">
            <a:normAutofit/>
          </a:bodyPr>
          <a:lstStyle/>
          <a:p>
            <a:pPr lvl="0">
              <a:lnSpc>
                <a:spcPct val="160000"/>
              </a:lnSpc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Proposed System Model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04E1D6D-58D9-F76F-1DFA-D23B9824B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9F5D451-4F81-0AE9-A7FF-245565B6AE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IEEE-iSSSC 2025">
            <a:extLst>
              <a:ext uri="{FF2B5EF4-FFF2-40B4-BE49-F238E27FC236}">
                <a16:creationId xmlns:a16="http://schemas.microsoft.com/office/drawing/2014/main" id="{68383026-8464-EC8F-5F64-3369AD918C7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saturation sat="0"/>
                    </a14:imgEffect>
                    <a14:imgEffect>
                      <a14:brightnessContrast bright="-4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85987" y="14386"/>
            <a:ext cx="1406013" cy="766844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E373D821-AFFA-1668-99E6-1549835B090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60624" y="1302579"/>
            <a:ext cx="8010845" cy="41837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1900" b="1" dirty="0">
                <a:latin typeface="Arial" panose="020B0604020202020204" pitchFamily="34" charset="0"/>
                <a:cs typeface="Arial" panose="020B0604020202020204" pitchFamily="34" charset="0"/>
              </a:rPr>
              <a:t>Network traffic data</a:t>
            </a: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 is divided into </a:t>
            </a:r>
            <a:r>
              <a:rPr lang="en-US" sz="1900" i="1" dirty="0">
                <a:latin typeface="Arial" panose="020B0604020202020204" pitchFamily="34" charset="0"/>
                <a:cs typeface="Arial" panose="020B0604020202020204" pitchFamily="34" charset="0"/>
              </a:rPr>
              <a:t>Flow</a:t>
            </a: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900" i="1" dirty="0">
                <a:latin typeface="Arial" panose="020B0604020202020204" pitchFamily="34" charset="0"/>
                <a:cs typeface="Arial" panose="020B0604020202020204" pitchFamily="34" charset="0"/>
              </a:rPr>
              <a:t>Packet</a:t>
            </a: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, and </a:t>
            </a:r>
            <a:r>
              <a:rPr lang="en-US" sz="1900" i="1" dirty="0">
                <a:latin typeface="Arial" panose="020B0604020202020204" pitchFamily="34" charset="0"/>
                <a:cs typeface="Arial" panose="020B0604020202020204" pitchFamily="34" charset="0"/>
              </a:rPr>
              <a:t>Protocol</a:t>
            </a: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 features.</a:t>
            </a:r>
          </a:p>
          <a:p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Each feature group is processed through </a:t>
            </a:r>
            <a:r>
              <a:rPr lang="en-US" sz="1900" b="1" dirty="0">
                <a:latin typeface="Arial" panose="020B0604020202020204" pitchFamily="34" charset="0"/>
                <a:cs typeface="Arial" panose="020B0604020202020204" pitchFamily="34" charset="0"/>
              </a:rPr>
              <a:t>separate encoder branches</a:t>
            </a: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 for independent latent learning.</a:t>
            </a:r>
          </a:p>
          <a:p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The encoded outputs (</a:t>
            </a:r>
            <a:r>
              <a:rPr lang="en-US" sz="1900" b="1" dirty="0">
                <a:latin typeface="Arial" panose="020B0604020202020204" pitchFamily="34" charset="0"/>
                <a:cs typeface="Arial" panose="020B0604020202020204" pitchFamily="34" charset="0"/>
              </a:rPr>
              <a:t>μ, σ²</a:t>
            </a: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) are passed into </a:t>
            </a:r>
            <a:r>
              <a:rPr lang="en-US" sz="1900" b="1" dirty="0">
                <a:latin typeface="Arial" panose="020B0604020202020204" pitchFamily="34" charset="0"/>
                <a:cs typeface="Arial" panose="020B0604020202020204" pitchFamily="34" charset="0"/>
              </a:rPr>
              <a:t>Feature Space Partitioning</a:t>
            </a: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 for structured latent distribution.</a:t>
            </a:r>
          </a:p>
          <a:p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Latent features are </a:t>
            </a:r>
            <a:r>
              <a:rPr lang="en-US" sz="1900" b="1" dirty="0">
                <a:latin typeface="Arial" panose="020B0604020202020204" pitchFamily="34" charset="0"/>
                <a:cs typeface="Arial" panose="020B0604020202020204" pitchFamily="34" charset="0"/>
              </a:rPr>
              <a:t>fused hierarchically</a:t>
            </a: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 in the </a:t>
            </a:r>
            <a:r>
              <a:rPr lang="en-US" sz="1900" i="1" dirty="0">
                <a:latin typeface="Arial" panose="020B0604020202020204" pitchFamily="34" charset="0"/>
                <a:cs typeface="Arial" panose="020B0604020202020204" pitchFamily="34" charset="0"/>
              </a:rPr>
              <a:t>Hierarchical Latent Fusion</a:t>
            </a: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 layer to form a unified representation.</a:t>
            </a:r>
          </a:p>
          <a:p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US" sz="1900" b="1" dirty="0">
                <a:latin typeface="Arial" panose="020B0604020202020204" pitchFamily="34" charset="0"/>
                <a:cs typeface="Arial" panose="020B0604020202020204" pitchFamily="34" charset="0"/>
              </a:rPr>
              <a:t>decoder</a:t>
            </a: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 reconstructs inputs and generates an </a:t>
            </a:r>
            <a:r>
              <a:rPr lang="en-US" sz="1900" b="1" dirty="0">
                <a:latin typeface="Arial" panose="020B0604020202020204" pitchFamily="34" charset="0"/>
                <a:cs typeface="Arial" panose="020B0604020202020204" pitchFamily="34" charset="0"/>
              </a:rPr>
              <a:t>anomaly score</a:t>
            </a: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 based on reconstruction loss.</a:t>
            </a:r>
          </a:p>
          <a:p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US" sz="1900" b="1" dirty="0" err="1">
                <a:latin typeface="Arial" panose="020B0604020202020204" pitchFamily="34" charset="0"/>
                <a:cs typeface="Arial" panose="020B0604020202020204" pitchFamily="34" charset="0"/>
              </a:rPr>
              <a:t>XGBoost</a:t>
            </a:r>
            <a:r>
              <a:rPr lang="en-US" sz="1900" b="1" dirty="0">
                <a:latin typeface="Arial" panose="020B0604020202020204" pitchFamily="34" charset="0"/>
                <a:cs typeface="Arial" panose="020B0604020202020204" pitchFamily="34" charset="0"/>
              </a:rPr>
              <a:t> classifier</a:t>
            </a: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 uses fused latent vectors and anomaly scores for final attack detection.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5CDD7B2-0F76-ECAD-5A81-62F522EFF01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15299" y="1970660"/>
            <a:ext cx="3665589" cy="2459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76262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B2FAE3-F86D-87A8-EEFA-58A54AF719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2622" y="0"/>
            <a:ext cx="10515600" cy="1325563"/>
          </a:xfrm>
        </p:spPr>
        <p:txBody>
          <a:bodyPr>
            <a:normAutofit/>
          </a:bodyPr>
          <a:lstStyle/>
          <a:p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Workflow of HFS-VAE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039051-229B-E154-B35B-B2697ADE0E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1544" y="1645764"/>
            <a:ext cx="9025647" cy="4351338"/>
          </a:xfrm>
        </p:spPr>
        <p:txBody>
          <a:bodyPr>
            <a:normAutofit/>
          </a:bodyPr>
          <a:lstStyle/>
          <a:p>
            <a:r>
              <a:rPr lang="en-IN" sz="1900" b="1" dirty="0">
                <a:latin typeface="Arial" panose="020B0604020202020204" pitchFamily="34" charset="0"/>
                <a:cs typeface="Arial" panose="020B0604020202020204" pitchFamily="34" charset="0"/>
              </a:rPr>
              <a:t>Load Datasets:</a:t>
            </a:r>
            <a:r>
              <a:rPr lang="en-IN" sz="1900" dirty="0">
                <a:latin typeface="Arial" panose="020B0604020202020204" pitchFamily="34" charset="0"/>
                <a:cs typeface="Arial" panose="020B0604020202020204" pitchFamily="34" charset="0"/>
              </a:rPr>
              <a:t> Import benchmark datasets — </a:t>
            </a:r>
            <a:r>
              <a:rPr lang="en-IN" sz="1900" i="1" dirty="0">
                <a:latin typeface="Arial" panose="020B0604020202020204" pitchFamily="34" charset="0"/>
                <a:cs typeface="Arial" panose="020B0604020202020204" pitchFamily="34" charset="0"/>
              </a:rPr>
              <a:t>CICIDS2017</a:t>
            </a:r>
            <a:r>
              <a:rPr lang="en-IN" sz="1900" dirty="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IN" sz="1900" i="1" dirty="0">
                <a:latin typeface="Arial" panose="020B0604020202020204" pitchFamily="34" charset="0"/>
                <a:cs typeface="Arial" panose="020B0604020202020204" pitchFamily="34" charset="0"/>
              </a:rPr>
              <a:t>NSL-KDD</a:t>
            </a:r>
            <a:r>
              <a:rPr lang="en-IN" sz="1900" dirty="0">
                <a:latin typeface="Arial" panose="020B0604020202020204" pitchFamily="34" charset="0"/>
                <a:cs typeface="Arial" panose="020B0604020202020204" pitchFamily="34" charset="0"/>
              </a:rPr>
              <a:t> — for training and evaluation.</a:t>
            </a:r>
          </a:p>
          <a:p>
            <a:r>
              <a:rPr lang="en-IN" sz="1900" b="1" dirty="0">
                <a:latin typeface="Arial" panose="020B0604020202020204" pitchFamily="34" charset="0"/>
                <a:cs typeface="Arial" panose="020B0604020202020204" pitchFamily="34" charset="0"/>
              </a:rPr>
              <a:t>Preprocess Data:</a:t>
            </a:r>
            <a:r>
              <a:rPr lang="en-IN" sz="1900" dirty="0">
                <a:latin typeface="Arial" panose="020B0604020202020204" pitchFamily="34" charset="0"/>
                <a:cs typeface="Arial" panose="020B0604020202020204" pitchFamily="34" charset="0"/>
              </a:rPr>
              <a:t> Clean missing values, normalize features (0–1), and label samples as </a:t>
            </a:r>
            <a:r>
              <a:rPr lang="en-IN" sz="1900" i="1" dirty="0">
                <a:latin typeface="Arial" panose="020B0604020202020204" pitchFamily="34" charset="0"/>
                <a:cs typeface="Arial" panose="020B0604020202020204" pitchFamily="34" charset="0"/>
              </a:rPr>
              <a:t>benign</a:t>
            </a:r>
            <a:r>
              <a:rPr lang="en-IN" sz="1900" dirty="0">
                <a:latin typeface="Arial" panose="020B0604020202020204" pitchFamily="34" charset="0"/>
                <a:cs typeface="Arial" panose="020B0604020202020204" pitchFamily="34" charset="0"/>
              </a:rPr>
              <a:t> or </a:t>
            </a:r>
            <a:r>
              <a:rPr lang="en-IN" sz="1900" i="1" dirty="0">
                <a:latin typeface="Arial" panose="020B0604020202020204" pitchFamily="34" charset="0"/>
                <a:cs typeface="Arial" panose="020B0604020202020204" pitchFamily="34" charset="0"/>
              </a:rPr>
              <a:t>attack</a:t>
            </a:r>
            <a:r>
              <a:rPr lang="en-IN" sz="19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r>
              <a:rPr lang="en-IN" sz="1900" b="1" dirty="0">
                <a:latin typeface="Arial" panose="020B0604020202020204" pitchFamily="34" charset="0"/>
                <a:cs typeface="Arial" panose="020B0604020202020204" pitchFamily="34" charset="0"/>
              </a:rPr>
              <a:t>Partition Features:</a:t>
            </a:r>
            <a:r>
              <a:rPr lang="en-IN" sz="1900" dirty="0">
                <a:latin typeface="Arial" panose="020B0604020202020204" pitchFamily="34" charset="0"/>
                <a:cs typeface="Arial" panose="020B0604020202020204" pitchFamily="34" charset="0"/>
              </a:rPr>
              <a:t> Split input features into </a:t>
            </a:r>
            <a:r>
              <a:rPr lang="en-IN" sz="1900" i="1" dirty="0">
                <a:latin typeface="Arial" panose="020B0604020202020204" pitchFamily="34" charset="0"/>
                <a:cs typeface="Arial" panose="020B0604020202020204" pitchFamily="34" charset="0"/>
              </a:rPr>
              <a:t>Flow</a:t>
            </a:r>
            <a:r>
              <a:rPr lang="en-IN" sz="19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IN" sz="1900" i="1" dirty="0">
                <a:latin typeface="Arial" panose="020B0604020202020204" pitchFamily="34" charset="0"/>
                <a:cs typeface="Arial" panose="020B0604020202020204" pitchFamily="34" charset="0"/>
              </a:rPr>
              <a:t>Packet</a:t>
            </a:r>
            <a:r>
              <a:rPr lang="en-IN" sz="1900" dirty="0">
                <a:latin typeface="Arial" panose="020B0604020202020204" pitchFamily="34" charset="0"/>
                <a:cs typeface="Arial" panose="020B0604020202020204" pitchFamily="34" charset="0"/>
              </a:rPr>
              <a:t>, and </a:t>
            </a:r>
            <a:r>
              <a:rPr lang="en-IN" sz="1900" i="1" dirty="0">
                <a:latin typeface="Arial" panose="020B0604020202020204" pitchFamily="34" charset="0"/>
                <a:cs typeface="Arial" panose="020B0604020202020204" pitchFamily="34" charset="0"/>
              </a:rPr>
              <a:t>Protocol</a:t>
            </a:r>
            <a:r>
              <a:rPr lang="en-IN" sz="1900" dirty="0">
                <a:latin typeface="Arial" panose="020B0604020202020204" pitchFamily="34" charset="0"/>
                <a:cs typeface="Arial" panose="020B0604020202020204" pitchFamily="34" charset="0"/>
              </a:rPr>
              <a:t> groups for hierarchical learning.</a:t>
            </a:r>
          </a:p>
          <a:p>
            <a:r>
              <a:rPr lang="en-IN" sz="1900" b="1" dirty="0">
                <a:latin typeface="Arial" panose="020B0604020202020204" pitchFamily="34" charset="0"/>
                <a:cs typeface="Arial" panose="020B0604020202020204" pitchFamily="34" charset="0"/>
              </a:rPr>
              <a:t>Train HFS-VAE:</a:t>
            </a:r>
            <a:r>
              <a:rPr lang="en-IN" sz="1900" dirty="0">
                <a:latin typeface="Arial" panose="020B0604020202020204" pitchFamily="34" charset="0"/>
                <a:cs typeface="Arial" panose="020B0604020202020204" pitchFamily="34" charset="0"/>
              </a:rPr>
              <a:t> Train the model on </a:t>
            </a:r>
            <a:r>
              <a:rPr lang="en-IN" sz="1900" i="1" dirty="0">
                <a:latin typeface="Arial" panose="020B0604020202020204" pitchFamily="34" charset="0"/>
                <a:cs typeface="Arial" panose="020B0604020202020204" pitchFamily="34" charset="0"/>
              </a:rPr>
              <a:t>benign data only</a:t>
            </a:r>
            <a:r>
              <a:rPr lang="en-IN" sz="1900" dirty="0">
                <a:latin typeface="Arial" panose="020B0604020202020204" pitchFamily="34" charset="0"/>
                <a:cs typeface="Arial" panose="020B0604020202020204" pitchFamily="34" charset="0"/>
              </a:rPr>
              <a:t> to learn normal traffic representations.</a:t>
            </a:r>
          </a:p>
          <a:p>
            <a:r>
              <a:rPr lang="en-IN" sz="1900" b="1" dirty="0">
                <a:latin typeface="Arial" panose="020B0604020202020204" pitchFamily="34" charset="0"/>
                <a:cs typeface="Arial" panose="020B0604020202020204" pitchFamily="34" charset="0"/>
              </a:rPr>
              <a:t>Train </a:t>
            </a:r>
            <a:r>
              <a:rPr lang="en-IN" sz="1900" b="1" dirty="0" err="1">
                <a:latin typeface="Arial" panose="020B0604020202020204" pitchFamily="34" charset="0"/>
                <a:cs typeface="Arial" panose="020B0604020202020204" pitchFamily="34" charset="0"/>
              </a:rPr>
              <a:t>XGBoost</a:t>
            </a:r>
            <a:r>
              <a:rPr lang="en-IN" sz="1900" b="1" dirty="0">
                <a:latin typeface="Arial" panose="020B0604020202020204" pitchFamily="34" charset="0"/>
                <a:cs typeface="Arial" panose="020B0604020202020204" pitchFamily="34" charset="0"/>
              </a:rPr>
              <a:t> Classifier:</a:t>
            </a:r>
            <a:r>
              <a:rPr lang="en-IN" sz="1900" dirty="0">
                <a:latin typeface="Arial" panose="020B0604020202020204" pitchFamily="34" charset="0"/>
                <a:cs typeface="Arial" panose="020B0604020202020204" pitchFamily="34" charset="0"/>
              </a:rPr>
              <a:t> Use latent vectors from HFS-VAE with labels to detect intrusions.</a:t>
            </a:r>
          </a:p>
          <a:p>
            <a:r>
              <a:rPr lang="en-IN" sz="1900" b="1" dirty="0">
                <a:latin typeface="Arial" panose="020B0604020202020204" pitchFamily="34" charset="0"/>
                <a:cs typeface="Arial" panose="020B0604020202020204" pitchFamily="34" charset="0"/>
              </a:rPr>
              <a:t>Evaluate &amp; Visualize:</a:t>
            </a:r>
            <a:r>
              <a:rPr lang="en-IN" sz="1900" dirty="0">
                <a:latin typeface="Arial" panose="020B0604020202020204" pitchFamily="34" charset="0"/>
                <a:cs typeface="Arial" panose="020B0604020202020204" pitchFamily="34" charset="0"/>
              </a:rPr>
              <a:t> Test on unseen data, compute metrics (</a:t>
            </a:r>
            <a:r>
              <a:rPr lang="en-IN" sz="1900" b="1" dirty="0">
                <a:latin typeface="Arial" panose="020B0604020202020204" pitchFamily="34" charset="0"/>
                <a:cs typeface="Arial" panose="020B0604020202020204" pitchFamily="34" charset="0"/>
              </a:rPr>
              <a:t>F1, AP, AUC</a:t>
            </a:r>
            <a:r>
              <a:rPr lang="en-IN" sz="1900" dirty="0">
                <a:latin typeface="Arial" panose="020B0604020202020204" pitchFamily="34" charset="0"/>
                <a:cs typeface="Arial" panose="020B0604020202020204" pitchFamily="34" charset="0"/>
              </a:rPr>
              <a:t>), and visualize latent space using </a:t>
            </a:r>
            <a:r>
              <a:rPr lang="en-IN" sz="1900" b="1" dirty="0">
                <a:latin typeface="Arial" panose="020B0604020202020204" pitchFamily="34" charset="0"/>
                <a:cs typeface="Arial" panose="020B0604020202020204" pitchFamily="34" charset="0"/>
              </a:rPr>
              <a:t>PCA, MLE</a:t>
            </a:r>
            <a:r>
              <a:rPr lang="en-IN" sz="1900" dirty="0">
                <a:latin typeface="Arial" panose="020B0604020202020204" pitchFamily="34" charset="0"/>
                <a:cs typeface="Arial" panose="020B0604020202020204" pitchFamily="34" charset="0"/>
              </a:rPr>
              <a:t>, and boundary plots.</a:t>
            </a:r>
          </a:p>
          <a:p>
            <a:endParaRPr lang="en-IN" sz="1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FF2F61E-4C7A-6E35-7FE6-BF05282C9A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3999" y="860898"/>
            <a:ext cx="2665379" cy="5136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20887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E6BA4E5-DAF5-FC17-5FE6-FF96D3F1A1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6048B6DB-13DF-F440-ADCD-67CCFBB262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B8CF23B-EFA0-C024-404E-D2D63A1FA1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825" y="-685152"/>
            <a:ext cx="9688296" cy="1642969"/>
          </a:xfrm>
        </p:spPr>
        <p:txBody>
          <a:bodyPr anchor="b">
            <a:normAutofit/>
          </a:bodyPr>
          <a:lstStyle/>
          <a:p>
            <a:pPr marL="279400" lvl="0"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ts val="2800"/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Simulation Setup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DCAF5A5-5187-ADB4-D0A3-2D0CAAC074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AF6E61F-D0BB-CA61-E12F-B434D2DBEA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IEEE-iSSSC 2025">
            <a:extLst>
              <a:ext uri="{FF2B5EF4-FFF2-40B4-BE49-F238E27FC236}">
                <a16:creationId xmlns:a16="http://schemas.microsoft.com/office/drawing/2014/main" id="{B0198E4B-CF5C-0B9A-7A27-1C257246BA3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saturation sat="0"/>
                    </a14:imgEffect>
                    <a14:imgEffect>
                      <a14:brightnessContrast bright="-4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85987" y="14386"/>
            <a:ext cx="1406013" cy="766844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4539022E-0C1D-7745-AE5C-DD7AE31CA0D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85437" y="941696"/>
            <a:ext cx="8930937" cy="4770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System Configuration: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Windows 11 OS, Intel Core i7 Processor, 32 GB RAM, NVIDIA RTX 3060 GPU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altLang="en-US" sz="1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Development Tools: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Python 3.10 with </a:t>
            </a:r>
            <a:r>
              <a:rPr kumimoji="0" lang="en-US" altLang="en-US" sz="19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PyTorch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n-US" altLang="en-US" sz="19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XGBoost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frameworks (NumPy, Pandas, Scikit-learn libraries)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altLang="en-US" sz="1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Datasets Used: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CICIDS2017 (3 M records, 80 features) and NSL-KDD (125 K samples, 41 features)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altLang="en-US" sz="1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Preprocessing: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Missing value removal, feature normalization (0–1), and label binarization (benign = 0, attack = 1)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altLang="en-US" sz="1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Training Setup: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100 epochs, batch size 256, learning rate 1×10⁻³ using Adam optimizer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altLang="en-US" sz="1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Evaluation Metrics: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F1-Score, AP, AUC, Reconstruction Loss, and MLE Score</a:t>
            </a:r>
          </a:p>
        </p:txBody>
      </p:sp>
    </p:spTree>
    <p:extLst>
      <p:ext uri="{BB962C8B-B14F-4D97-AF65-F5344CB8AC3E}">
        <p14:creationId xmlns:p14="http://schemas.microsoft.com/office/powerpoint/2010/main" val="39303743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699AF1-578C-BEC7-992B-F37209B693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3AFF28DB-3022-9AE0-E6ED-89E177E751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925A1CC-71D5-1D0A-A054-F4934C5959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45463" y="-1000100"/>
            <a:ext cx="9688296" cy="1642969"/>
          </a:xfrm>
        </p:spPr>
        <p:txBody>
          <a:bodyPr anchor="b">
            <a:normAutofit/>
          </a:bodyPr>
          <a:lstStyle/>
          <a:p>
            <a:pPr marL="279400" lvl="0"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ts val="2800"/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Result and Discussion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287FD8-CEC3-D9E8-58E8-91C55962A0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1647" y="1108919"/>
            <a:ext cx="10927523" cy="2410252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sz="2000" dirty="0"/>
              <a:t> </a:t>
            </a:r>
            <a:endParaRPr lang="en-IN" sz="200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661387A-D2CF-B83D-46A1-E5112D3F65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E189AA1-8B48-0023-1FF8-DFACB3C97E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IEEE-iSSSC 2025">
            <a:extLst>
              <a:ext uri="{FF2B5EF4-FFF2-40B4-BE49-F238E27FC236}">
                <a16:creationId xmlns:a16="http://schemas.microsoft.com/office/drawing/2014/main" id="{AE60887A-DA6E-D15A-7883-A107254B7AE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saturation sat="0"/>
                    </a14:imgEffect>
                    <a14:imgEffect>
                      <a14:brightnessContrast bright="-4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85987" y="14386"/>
            <a:ext cx="1406013" cy="766844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CBA1B0E8-4CF3-591C-7057-D6831AB05B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759926"/>
              </p:ext>
            </p:extLst>
          </p:nvPr>
        </p:nvGraphicFramePr>
        <p:xfrm>
          <a:off x="838200" y="3452654"/>
          <a:ext cx="10515600" cy="1097280"/>
        </p:xfrm>
        <a:graphic>
          <a:graphicData uri="http://schemas.openxmlformats.org/drawingml/2006/table">
            <a:tbl>
              <a:tblPr/>
              <a:tblGrid>
                <a:gridCol w="2628900">
                  <a:extLst>
                    <a:ext uri="{9D8B030D-6E8A-4147-A177-3AD203B41FA5}">
                      <a16:colId xmlns:a16="http://schemas.microsoft.com/office/drawing/2014/main" val="129942205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988052205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70466339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52353451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20369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0789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2375679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197BEB3-2632-7801-750B-C312B5224C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3248002"/>
              </p:ext>
            </p:extLst>
          </p:nvPr>
        </p:nvGraphicFramePr>
        <p:xfrm>
          <a:off x="911485" y="3679825"/>
          <a:ext cx="8631348" cy="2560320"/>
        </p:xfrm>
        <a:graphic>
          <a:graphicData uri="http://schemas.openxmlformats.org/drawingml/2006/table">
            <a:tbl>
              <a:tblPr/>
              <a:tblGrid>
                <a:gridCol w="2157837">
                  <a:extLst>
                    <a:ext uri="{9D8B030D-6E8A-4147-A177-3AD203B41FA5}">
                      <a16:colId xmlns:a16="http://schemas.microsoft.com/office/drawing/2014/main" val="4162445649"/>
                    </a:ext>
                  </a:extLst>
                </a:gridCol>
                <a:gridCol w="2157837">
                  <a:extLst>
                    <a:ext uri="{9D8B030D-6E8A-4147-A177-3AD203B41FA5}">
                      <a16:colId xmlns:a16="http://schemas.microsoft.com/office/drawing/2014/main" val="2438202589"/>
                    </a:ext>
                  </a:extLst>
                </a:gridCol>
                <a:gridCol w="2157837">
                  <a:extLst>
                    <a:ext uri="{9D8B030D-6E8A-4147-A177-3AD203B41FA5}">
                      <a16:colId xmlns:a16="http://schemas.microsoft.com/office/drawing/2014/main" val="2429906734"/>
                    </a:ext>
                  </a:extLst>
                </a:gridCol>
                <a:gridCol w="2157837">
                  <a:extLst>
                    <a:ext uri="{9D8B030D-6E8A-4147-A177-3AD203B41FA5}">
                      <a16:colId xmlns:a16="http://schemas.microsoft.com/office/drawing/2014/main" val="3493923823"/>
                    </a:ext>
                  </a:extLst>
                </a:gridCol>
              </a:tblGrid>
              <a:tr h="275828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>
                        <a:latin typeface="+mj-lt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>
                        <a:latin typeface="+mj-lt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>
                        <a:latin typeface="+mj-lt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>
                        <a:latin typeface="+mj-lt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7709097"/>
                  </a:ext>
                </a:extLst>
              </a:tr>
              <a:tr h="275828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>
                        <a:latin typeface="+mj-lt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>
                        <a:latin typeface="+mj-lt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>
                        <a:latin typeface="+mj-lt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>
                        <a:latin typeface="+mj-lt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2091370"/>
                  </a:ext>
                </a:extLst>
              </a:tr>
              <a:tr h="275828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>
                        <a:latin typeface="+mj-lt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>
                        <a:latin typeface="+mj-lt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>
                        <a:latin typeface="+mj-lt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>
                        <a:latin typeface="+mj-lt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7206927"/>
                  </a:ext>
                </a:extLst>
              </a:tr>
              <a:tr h="275828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>
                        <a:latin typeface="+mj-lt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>
                        <a:latin typeface="+mj-lt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>
                        <a:latin typeface="+mj-lt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>
                        <a:latin typeface="+mj-lt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6329320"/>
                  </a:ext>
                </a:extLst>
              </a:tr>
              <a:tr h="275828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>
                        <a:latin typeface="+mj-lt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>
                        <a:latin typeface="+mj-lt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>
                        <a:latin typeface="+mj-lt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>
                        <a:latin typeface="+mj-lt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8806267"/>
                  </a:ext>
                </a:extLst>
              </a:tr>
              <a:tr h="275828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>
                        <a:latin typeface="+mj-lt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>
                        <a:latin typeface="+mj-lt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>
                        <a:latin typeface="+mj-lt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>
                        <a:latin typeface="+mj-lt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51855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>
                        <a:latin typeface="+mj-lt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>
                        <a:latin typeface="+mj-lt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>
                        <a:latin typeface="+mj-lt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>
                        <a:latin typeface="+mj-lt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4689511"/>
                  </a:ext>
                </a:extLst>
              </a:tr>
            </a:tbl>
          </a:graphicData>
        </a:graphic>
      </p:graphicFrame>
      <p:sp>
        <p:nvSpPr>
          <p:cNvPr id="6" name="Rectangle 1">
            <a:extLst>
              <a:ext uri="{FF2B5EF4-FFF2-40B4-BE49-F238E27FC236}">
                <a16:creationId xmlns:a16="http://schemas.microsoft.com/office/drawing/2014/main" id="{9701B4AA-9BAF-0FEE-F088-03E5FA11F6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523" y="666720"/>
            <a:ext cx="7915073" cy="33085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900" dirty="0"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IN" sz="1900" b="1" dirty="0">
                <a:latin typeface="Arial" panose="020B0604020202020204" pitchFamily="34" charset="0"/>
                <a:cs typeface="Arial" panose="020B0604020202020204" pitchFamily="34" charset="0"/>
              </a:rPr>
              <a:t>HFS-VAE model</a:t>
            </a:r>
            <a:r>
              <a:rPr lang="en-IN" sz="1900" dirty="0">
                <a:latin typeface="Arial" panose="020B0604020202020204" pitchFamily="34" charset="0"/>
                <a:cs typeface="Arial" panose="020B0604020202020204" pitchFamily="34" charset="0"/>
              </a:rPr>
              <a:t> was evaluated on </a:t>
            </a:r>
            <a:r>
              <a:rPr lang="en-IN" sz="1900" b="1" dirty="0">
                <a:latin typeface="Arial" panose="020B0604020202020204" pitchFamily="34" charset="0"/>
                <a:cs typeface="Arial" panose="020B0604020202020204" pitchFamily="34" charset="0"/>
              </a:rPr>
              <a:t>CICIDS2017</a:t>
            </a:r>
            <a:r>
              <a:rPr lang="en-IN" sz="1900" dirty="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IN" sz="1900" b="1" dirty="0">
                <a:latin typeface="Arial" panose="020B0604020202020204" pitchFamily="34" charset="0"/>
                <a:cs typeface="Arial" panose="020B0604020202020204" pitchFamily="34" charset="0"/>
              </a:rPr>
              <a:t>NSL-KDD</a:t>
            </a:r>
            <a:r>
              <a:rPr lang="en-IN" sz="1900" dirty="0">
                <a:latin typeface="Arial" panose="020B0604020202020204" pitchFamily="34" charset="0"/>
                <a:cs typeface="Arial" panose="020B0604020202020204" pitchFamily="34" charset="0"/>
              </a:rPr>
              <a:t> datasets for performance and interpretability.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900" dirty="0">
                <a:latin typeface="Arial" panose="020B0604020202020204" pitchFamily="34" charset="0"/>
                <a:cs typeface="Arial" panose="020B0604020202020204" pitchFamily="34" charset="0"/>
              </a:rPr>
              <a:t>Achieved </a:t>
            </a:r>
            <a:r>
              <a:rPr lang="en-IN" sz="1900" b="1" dirty="0">
                <a:latin typeface="Arial" panose="020B0604020202020204" pitchFamily="34" charset="0"/>
                <a:cs typeface="Arial" panose="020B0604020202020204" pitchFamily="34" charset="0"/>
              </a:rPr>
              <a:t>F1-score = 0.74</a:t>
            </a:r>
            <a:r>
              <a:rPr lang="en-IN" sz="19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IN" sz="1900" b="1" dirty="0">
                <a:latin typeface="Arial" panose="020B0604020202020204" pitchFamily="34" charset="0"/>
                <a:cs typeface="Arial" panose="020B0604020202020204" pitchFamily="34" charset="0"/>
              </a:rPr>
              <a:t>AP = 0.84</a:t>
            </a:r>
            <a:r>
              <a:rPr lang="en-IN" sz="1900" dirty="0">
                <a:latin typeface="Arial" panose="020B0604020202020204" pitchFamily="34" charset="0"/>
                <a:cs typeface="Arial" panose="020B0604020202020204" pitchFamily="34" charset="0"/>
              </a:rPr>
              <a:t>, and </a:t>
            </a:r>
            <a:r>
              <a:rPr lang="en-IN" sz="1900" b="1" dirty="0">
                <a:latin typeface="Arial" panose="020B0604020202020204" pitchFamily="34" charset="0"/>
                <a:cs typeface="Arial" panose="020B0604020202020204" pitchFamily="34" charset="0"/>
              </a:rPr>
              <a:t>AUC = 0.88</a:t>
            </a:r>
            <a:r>
              <a:rPr lang="en-IN" sz="1900" dirty="0">
                <a:latin typeface="Arial" panose="020B0604020202020204" pitchFamily="34" charset="0"/>
                <a:cs typeface="Arial" panose="020B0604020202020204" pitchFamily="34" charset="0"/>
              </a:rPr>
              <a:t>, showing balanced detection capability.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900" b="1" dirty="0">
                <a:latin typeface="Arial" panose="020B0604020202020204" pitchFamily="34" charset="0"/>
                <a:cs typeface="Arial" panose="020B0604020202020204" pitchFamily="34" charset="0"/>
              </a:rPr>
              <a:t>Confusion matrix</a:t>
            </a:r>
            <a:r>
              <a:rPr lang="en-IN" sz="1900" dirty="0">
                <a:latin typeface="Arial" panose="020B0604020202020204" pitchFamily="34" charset="0"/>
                <a:cs typeface="Arial" panose="020B0604020202020204" pitchFamily="34" charset="0"/>
              </a:rPr>
              <a:t> highlights high precision with minimal false alarms.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900" b="1" dirty="0">
                <a:latin typeface="Arial" panose="020B0604020202020204" pitchFamily="34" charset="0"/>
                <a:cs typeface="Arial" panose="020B0604020202020204" pitchFamily="34" charset="0"/>
              </a:rPr>
              <a:t>PCA visualization</a:t>
            </a:r>
            <a:r>
              <a:rPr lang="en-IN" sz="1900" dirty="0">
                <a:latin typeface="Arial" panose="020B0604020202020204" pitchFamily="34" charset="0"/>
                <a:cs typeface="Arial" panose="020B0604020202020204" pitchFamily="34" charset="0"/>
              </a:rPr>
              <a:t> shows clear separation between benign and attack samples, ensuring interpretability.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900" dirty="0">
                <a:latin typeface="Arial" panose="020B0604020202020204" pitchFamily="34" charset="0"/>
                <a:cs typeface="Arial" panose="020B0604020202020204" pitchFamily="34" charset="0"/>
              </a:rPr>
              <a:t>Overall, the model provides </a:t>
            </a:r>
            <a:r>
              <a:rPr lang="en-IN" sz="1900" b="1" dirty="0">
                <a:latin typeface="Arial" panose="020B0604020202020204" pitchFamily="34" charset="0"/>
                <a:cs typeface="Arial" panose="020B0604020202020204" pitchFamily="34" charset="0"/>
              </a:rPr>
              <a:t>robust detection, improved transparency, and strong adaptability</a:t>
            </a:r>
            <a:r>
              <a:rPr lang="en-IN" sz="1900" dirty="0">
                <a:latin typeface="Arial" panose="020B0604020202020204" pitchFamily="34" charset="0"/>
                <a:cs typeface="Arial" panose="020B0604020202020204" pitchFamily="34" charset="0"/>
              </a:rPr>
              <a:t> for enterprise-scale NIDS.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C2ECB23F-6C62-D34B-AC6F-1A80F3AFDA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9216384"/>
              </p:ext>
            </p:extLst>
          </p:nvPr>
        </p:nvGraphicFramePr>
        <p:xfrm>
          <a:off x="218879" y="3820903"/>
          <a:ext cx="7378425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5685">
                  <a:extLst>
                    <a:ext uri="{9D8B030D-6E8A-4147-A177-3AD203B41FA5}">
                      <a16:colId xmlns:a16="http://schemas.microsoft.com/office/drawing/2014/main" val="2182239367"/>
                    </a:ext>
                  </a:extLst>
                </a:gridCol>
                <a:gridCol w="1475685">
                  <a:extLst>
                    <a:ext uri="{9D8B030D-6E8A-4147-A177-3AD203B41FA5}">
                      <a16:colId xmlns:a16="http://schemas.microsoft.com/office/drawing/2014/main" val="3159845400"/>
                    </a:ext>
                  </a:extLst>
                </a:gridCol>
                <a:gridCol w="1475685">
                  <a:extLst>
                    <a:ext uri="{9D8B030D-6E8A-4147-A177-3AD203B41FA5}">
                      <a16:colId xmlns:a16="http://schemas.microsoft.com/office/drawing/2014/main" val="4087967571"/>
                    </a:ext>
                  </a:extLst>
                </a:gridCol>
                <a:gridCol w="1475685">
                  <a:extLst>
                    <a:ext uri="{9D8B030D-6E8A-4147-A177-3AD203B41FA5}">
                      <a16:colId xmlns:a16="http://schemas.microsoft.com/office/drawing/2014/main" val="214416190"/>
                    </a:ext>
                  </a:extLst>
                </a:gridCol>
                <a:gridCol w="1475685">
                  <a:extLst>
                    <a:ext uri="{9D8B030D-6E8A-4147-A177-3AD203B41FA5}">
                      <a16:colId xmlns:a16="http://schemas.microsoft.com/office/drawing/2014/main" val="2380296152"/>
                    </a:ext>
                  </a:extLst>
                </a:gridCol>
              </a:tblGrid>
              <a:tr h="3507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Model / Source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Dataset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AP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F1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AUC</a:t>
                      </a:r>
                      <a:endParaRPr lang="en-IN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94136874"/>
                  </a:ext>
                </a:extLst>
              </a:tr>
              <a:tr h="3293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NIDS-Vis 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UQ-IoT-IDS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0.802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0.69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0.84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50685600"/>
                  </a:ext>
                </a:extLst>
              </a:tr>
              <a:tr h="3507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HFS-VAE (Ours)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CICIDS2017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0.8412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0.7463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0.88</a:t>
                      </a:r>
                      <a:endParaRPr lang="en-IN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01785114"/>
                  </a:ext>
                </a:extLst>
              </a:tr>
              <a:tr h="3293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HFS-VAE (Ours)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NSL-KDD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0.9234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0.7371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0.88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68671686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4C3EBDD1-0B93-B523-A1C1-D20E437395A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62149" y="840084"/>
            <a:ext cx="3360742" cy="264446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6C8F502-62FB-4B3C-E901-627F0378E5C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13879" y="3788006"/>
            <a:ext cx="3360741" cy="2578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19966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E34EBA5-9702-40F6-3929-2D9DD2B3AE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5E44DD87-B842-6A2C-4C19-828CE13038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E41FE7-ACF2-70D8-55FE-F770114B8C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861739"/>
            <a:ext cx="9688296" cy="1642969"/>
          </a:xfrm>
        </p:spPr>
        <p:txBody>
          <a:bodyPr anchor="b">
            <a:normAutofit/>
          </a:bodyPr>
          <a:lstStyle/>
          <a:p>
            <a:pPr marL="279400"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ts val="2800"/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Conclusion &amp; Future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A83061-9DB8-9679-86B0-883EB33101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6005" y="1011678"/>
            <a:ext cx="11237186" cy="4990288"/>
          </a:xfrm>
        </p:spPr>
        <p:txBody>
          <a:bodyPr anchor="t">
            <a:normAutofit fontScale="25000" lnSpcReduction="20000"/>
          </a:bodyPr>
          <a:lstStyle/>
          <a:p>
            <a:pPr marL="0" indent="0">
              <a:buNone/>
            </a:pPr>
            <a:r>
              <a:rPr lang="en-IN" sz="7400" b="1" dirty="0">
                <a:latin typeface="Arial" panose="020B0604020202020204" pitchFamily="34" charset="0"/>
                <a:cs typeface="Arial" panose="020B0604020202020204" pitchFamily="34" charset="0"/>
              </a:rPr>
              <a:t>  Conclusion</a:t>
            </a:r>
            <a:endParaRPr lang="en-IN" sz="7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7600" dirty="0">
                <a:latin typeface="Arial" panose="020B0604020202020204" pitchFamily="34" charset="0"/>
                <a:cs typeface="Arial" panose="020B0604020202020204" pitchFamily="34" charset="0"/>
              </a:rPr>
              <a:t>Proposed </a:t>
            </a:r>
            <a:r>
              <a:rPr lang="en-IN" sz="7600" b="1" dirty="0">
                <a:latin typeface="Arial" panose="020B0604020202020204" pitchFamily="34" charset="0"/>
                <a:cs typeface="Arial" panose="020B0604020202020204" pitchFamily="34" charset="0"/>
              </a:rPr>
              <a:t>HFS-VAE</a:t>
            </a:r>
            <a:r>
              <a:rPr lang="en-IN" sz="7600" dirty="0">
                <a:latin typeface="Arial" panose="020B0604020202020204" pitchFamily="34" charset="0"/>
                <a:cs typeface="Arial" panose="020B0604020202020204" pitchFamily="34" charset="0"/>
              </a:rPr>
              <a:t>, a hierarchical feature-splitting variational autoencoder for NIDS.</a:t>
            </a:r>
          </a:p>
          <a:p>
            <a:r>
              <a:rPr lang="en-IN" sz="7600" dirty="0">
                <a:latin typeface="Arial" panose="020B0604020202020204" pitchFamily="34" charset="0"/>
                <a:cs typeface="Arial" panose="020B0604020202020204" pitchFamily="34" charset="0"/>
              </a:rPr>
              <a:t>Enhances </a:t>
            </a:r>
            <a:r>
              <a:rPr lang="en-IN" sz="7600" b="1" dirty="0">
                <a:latin typeface="Arial" panose="020B0604020202020204" pitchFamily="34" charset="0"/>
                <a:cs typeface="Arial" panose="020B0604020202020204" pitchFamily="34" charset="0"/>
              </a:rPr>
              <a:t>interpretability, robustness, and modularity</a:t>
            </a:r>
            <a:r>
              <a:rPr lang="en-IN" sz="7600" dirty="0">
                <a:latin typeface="Arial" panose="020B0604020202020204" pitchFamily="34" charset="0"/>
                <a:cs typeface="Arial" panose="020B0604020202020204" pitchFamily="34" charset="0"/>
              </a:rPr>
              <a:t> in intrusion detection systems.</a:t>
            </a:r>
          </a:p>
          <a:p>
            <a:r>
              <a:rPr lang="en-IN" sz="7600" dirty="0">
                <a:latin typeface="Arial" panose="020B0604020202020204" pitchFamily="34" charset="0"/>
                <a:cs typeface="Arial" panose="020B0604020202020204" pitchFamily="34" charset="0"/>
              </a:rPr>
              <a:t>Combines </a:t>
            </a:r>
            <a:r>
              <a:rPr lang="en-IN" sz="7600" b="1" dirty="0">
                <a:latin typeface="Arial" panose="020B0604020202020204" pitchFamily="34" charset="0"/>
                <a:cs typeface="Arial" panose="020B0604020202020204" pitchFamily="34" charset="0"/>
              </a:rPr>
              <a:t>multi-branch encoders</a:t>
            </a:r>
            <a:r>
              <a:rPr lang="en-IN" sz="7600" dirty="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IN" sz="7600" b="1" dirty="0">
                <a:latin typeface="Arial" panose="020B0604020202020204" pitchFamily="34" charset="0"/>
                <a:cs typeface="Arial" panose="020B0604020202020204" pitchFamily="34" charset="0"/>
              </a:rPr>
              <a:t>classifier fusion (</a:t>
            </a:r>
            <a:r>
              <a:rPr lang="en-IN" sz="7600" b="1" dirty="0" err="1">
                <a:latin typeface="Arial" panose="020B0604020202020204" pitchFamily="34" charset="0"/>
                <a:cs typeface="Arial" panose="020B0604020202020204" pitchFamily="34" charset="0"/>
              </a:rPr>
              <a:t>XGBoost</a:t>
            </a:r>
            <a:r>
              <a:rPr lang="en-IN" sz="7600" b="1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r>
              <a:rPr lang="en-IN" sz="7600" dirty="0">
                <a:latin typeface="Arial" panose="020B0604020202020204" pitchFamily="34" charset="0"/>
                <a:cs typeface="Arial" panose="020B0604020202020204" pitchFamily="34" charset="0"/>
              </a:rPr>
              <a:t> for better accuracy.</a:t>
            </a:r>
          </a:p>
          <a:p>
            <a:r>
              <a:rPr lang="en-IN" sz="7600" dirty="0">
                <a:latin typeface="Arial" panose="020B0604020202020204" pitchFamily="34" charset="0"/>
                <a:cs typeface="Arial" panose="020B0604020202020204" pitchFamily="34" charset="0"/>
              </a:rPr>
              <a:t>Achieved </a:t>
            </a:r>
            <a:r>
              <a:rPr lang="en-IN" sz="7600" b="1" dirty="0">
                <a:latin typeface="Arial" panose="020B0604020202020204" pitchFamily="34" charset="0"/>
                <a:cs typeface="Arial" panose="020B0604020202020204" pitchFamily="34" charset="0"/>
              </a:rPr>
              <a:t>F1 ≈ 0.74</a:t>
            </a:r>
            <a:r>
              <a:rPr lang="en-IN" sz="76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IN" sz="7600" b="1" dirty="0">
                <a:latin typeface="Arial" panose="020B0604020202020204" pitchFamily="34" charset="0"/>
                <a:cs typeface="Arial" panose="020B0604020202020204" pitchFamily="34" charset="0"/>
              </a:rPr>
              <a:t>AP ≈ 0.84–0.92</a:t>
            </a:r>
            <a:r>
              <a:rPr lang="en-IN" sz="7600" dirty="0">
                <a:latin typeface="Arial" panose="020B0604020202020204" pitchFamily="34" charset="0"/>
                <a:cs typeface="Arial" panose="020B0604020202020204" pitchFamily="34" charset="0"/>
              </a:rPr>
              <a:t>, and </a:t>
            </a:r>
            <a:r>
              <a:rPr lang="en-IN" sz="7600" b="1" dirty="0">
                <a:latin typeface="Arial" panose="020B0604020202020204" pitchFamily="34" charset="0"/>
                <a:cs typeface="Arial" panose="020B0604020202020204" pitchFamily="34" charset="0"/>
              </a:rPr>
              <a:t>AUC = 0.88</a:t>
            </a:r>
            <a:r>
              <a:rPr lang="en-IN" sz="7600" dirty="0">
                <a:latin typeface="Arial" panose="020B0604020202020204" pitchFamily="34" charset="0"/>
                <a:cs typeface="Arial" panose="020B0604020202020204" pitchFamily="34" charset="0"/>
              </a:rPr>
              <a:t> across benchmark datasets.</a:t>
            </a:r>
          </a:p>
          <a:p>
            <a:r>
              <a:rPr lang="en-IN" sz="7600" dirty="0">
                <a:latin typeface="Arial" panose="020B0604020202020204" pitchFamily="34" charset="0"/>
                <a:cs typeface="Arial" panose="020B0604020202020204" pitchFamily="34" charset="0"/>
              </a:rPr>
              <a:t>Outperforms prior works like </a:t>
            </a:r>
            <a:r>
              <a:rPr lang="en-IN" sz="7600" b="1" dirty="0">
                <a:latin typeface="Arial" panose="020B0604020202020204" pitchFamily="34" charset="0"/>
                <a:cs typeface="Arial" panose="020B0604020202020204" pitchFamily="34" charset="0"/>
              </a:rPr>
              <a:t>NIDS-Vis</a:t>
            </a:r>
            <a:r>
              <a:rPr lang="en-IN" sz="7600" dirty="0">
                <a:latin typeface="Arial" panose="020B0604020202020204" pitchFamily="34" charset="0"/>
                <a:cs typeface="Arial" panose="020B0604020202020204" pitchFamily="34" charset="0"/>
              </a:rPr>
              <a:t> by scaling to </a:t>
            </a:r>
            <a:r>
              <a:rPr lang="en-IN" sz="7600" b="1" dirty="0">
                <a:latin typeface="Arial" panose="020B0604020202020204" pitchFamily="34" charset="0"/>
                <a:cs typeface="Arial" panose="020B0604020202020204" pitchFamily="34" charset="0"/>
              </a:rPr>
              <a:t>enterprise-level data</a:t>
            </a:r>
            <a:r>
              <a:rPr lang="en-IN" sz="76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r>
              <a:rPr lang="en-IN" sz="7600" dirty="0">
                <a:latin typeface="Arial" panose="020B0604020202020204" pitchFamily="34" charset="0"/>
                <a:cs typeface="Arial" panose="020B0604020202020204" pitchFamily="34" charset="0"/>
              </a:rPr>
              <a:t>Demonstrates </a:t>
            </a:r>
            <a:r>
              <a:rPr lang="en-IN" sz="7600" b="1" dirty="0">
                <a:latin typeface="Arial" panose="020B0604020202020204" pitchFamily="34" charset="0"/>
                <a:cs typeface="Arial" panose="020B0604020202020204" pitchFamily="34" charset="0"/>
              </a:rPr>
              <a:t>clear latent separation</a:t>
            </a:r>
            <a:r>
              <a:rPr lang="en-IN" sz="7600" dirty="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IN" sz="7600" b="1" dirty="0">
                <a:latin typeface="Arial" panose="020B0604020202020204" pitchFamily="34" charset="0"/>
                <a:cs typeface="Arial" panose="020B0604020202020204" pitchFamily="34" charset="0"/>
              </a:rPr>
              <a:t>stable detection performance</a:t>
            </a:r>
            <a:r>
              <a:rPr lang="en-IN" sz="76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>
              <a:buNone/>
            </a:pPr>
            <a:endParaRPr lang="en-IN" sz="5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5500" b="1" dirty="0"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lang="en-US" sz="7400" b="1" dirty="0">
                <a:latin typeface="Arial" panose="020B0604020202020204" pitchFamily="34" charset="0"/>
                <a:cs typeface="Arial" panose="020B0604020202020204" pitchFamily="34" charset="0"/>
              </a:rPr>
              <a:t>Future Work</a:t>
            </a:r>
            <a:endParaRPr lang="en-US" sz="7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7600" dirty="0">
                <a:latin typeface="Arial" panose="020B0604020202020204" pitchFamily="34" charset="0"/>
                <a:cs typeface="Arial" panose="020B0604020202020204" pitchFamily="34" charset="0"/>
              </a:rPr>
              <a:t>Extend HFS-VAE for </a:t>
            </a:r>
            <a:r>
              <a:rPr lang="en-US" sz="7600" b="1" dirty="0">
                <a:latin typeface="Arial" panose="020B0604020202020204" pitchFamily="34" charset="0"/>
                <a:cs typeface="Arial" panose="020B0604020202020204" pitchFamily="34" charset="0"/>
              </a:rPr>
              <a:t>real-time or streaming intrusion detection</a:t>
            </a:r>
            <a:r>
              <a:rPr lang="en-US" sz="76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r>
              <a:rPr lang="en-US" sz="7600" dirty="0">
                <a:latin typeface="Arial" panose="020B0604020202020204" pitchFamily="34" charset="0"/>
                <a:cs typeface="Arial" panose="020B0604020202020204" pitchFamily="34" charset="0"/>
              </a:rPr>
              <a:t>Apply </a:t>
            </a:r>
            <a:r>
              <a:rPr lang="en-US" sz="7600" b="1" dirty="0">
                <a:latin typeface="Arial" panose="020B0604020202020204" pitchFamily="34" charset="0"/>
                <a:cs typeface="Arial" panose="020B0604020202020204" pitchFamily="34" charset="0"/>
              </a:rPr>
              <a:t>model compression, pruning, and quantization</a:t>
            </a:r>
            <a:r>
              <a:rPr lang="en-US" sz="7600" dirty="0">
                <a:latin typeface="Arial" panose="020B0604020202020204" pitchFamily="34" charset="0"/>
                <a:cs typeface="Arial" panose="020B0604020202020204" pitchFamily="34" charset="0"/>
              </a:rPr>
              <a:t> for IoT and edge devices.</a:t>
            </a:r>
          </a:p>
          <a:p>
            <a:r>
              <a:rPr lang="en-US" sz="7600" dirty="0">
                <a:latin typeface="Arial" panose="020B0604020202020204" pitchFamily="34" charset="0"/>
                <a:cs typeface="Arial" panose="020B0604020202020204" pitchFamily="34" charset="0"/>
              </a:rPr>
              <a:t>Integrate </a:t>
            </a:r>
            <a:r>
              <a:rPr lang="en-US" sz="7600" b="1" dirty="0">
                <a:latin typeface="Arial" panose="020B0604020202020204" pitchFamily="34" charset="0"/>
                <a:cs typeface="Arial" panose="020B0604020202020204" pitchFamily="34" charset="0"/>
              </a:rPr>
              <a:t>adversarial training</a:t>
            </a:r>
            <a:r>
              <a:rPr lang="en-US" sz="7600" dirty="0">
                <a:latin typeface="Arial" panose="020B0604020202020204" pitchFamily="34" charset="0"/>
                <a:cs typeface="Arial" panose="020B0604020202020204" pitchFamily="34" charset="0"/>
              </a:rPr>
              <a:t> to further improve robustness and recall.</a:t>
            </a:r>
          </a:p>
          <a:p>
            <a:r>
              <a:rPr lang="en-US" sz="7600" dirty="0">
                <a:latin typeface="Arial" panose="020B0604020202020204" pitchFamily="34" charset="0"/>
                <a:cs typeface="Arial" panose="020B0604020202020204" pitchFamily="34" charset="0"/>
              </a:rPr>
              <a:t>Develop </a:t>
            </a:r>
            <a:r>
              <a:rPr lang="en-US" sz="7600" b="1" dirty="0">
                <a:latin typeface="Arial" panose="020B0604020202020204" pitchFamily="34" charset="0"/>
                <a:cs typeface="Arial" panose="020B0604020202020204" pitchFamily="34" charset="0"/>
              </a:rPr>
              <a:t>threshold-adaptive mechanisms</a:t>
            </a:r>
            <a:r>
              <a:rPr lang="en-US" sz="7600" dirty="0">
                <a:latin typeface="Arial" panose="020B0604020202020204" pitchFamily="34" charset="0"/>
                <a:cs typeface="Arial" panose="020B0604020202020204" pitchFamily="34" charset="0"/>
              </a:rPr>
              <a:t> for better precision–recall balance.</a:t>
            </a:r>
          </a:p>
          <a:p>
            <a:r>
              <a:rPr lang="en-US" sz="7600" dirty="0">
                <a:latin typeface="Arial" panose="020B0604020202020204" pitchFamily="34" charset="0"/>
                <a:cs typeface="Arial" panose="020B0604020202020204" pitchFamily="34" charset="0"/>
              </a:rPr>
              <a:t>Expand validation using </a:t>
            </a:r>
            <a:r>
              <a:rPr lang="en-US" sz="7600" b="1" dirty="0">
                <a:latin typeface="Arial" panose="020B0604020202020204" pitchFamily="34" charset="0"/>
                <a:cs typeface="Arial" panose="020B0604020202020204" pitchFamily="34" charset="0"/>
              </a:rPr>
              <a:t>additional datasets</a:t>
            </a:r>
            <a:r>
              <a:rPr lang="en-US" sz="7600" dirty="0">
                <a:latin typeface="Arial" panose="020B0604020202020204" pitchFamily="34" charset="0"/>
                <a:cs typeface="Arial" panose="020B0604020202020204" pitchFamily="34" charset="0"/>
              </a:rPr>
              <a:t> for broader generalization.</a:t>
            </a:r>
          </a:p>
          <a:p>
            <a:r>
              <a:rPr lang="en-US" sz="7600" dirty="0">
                <a:latin typeface="Arial" panose="020B0604020202020204" pitchFamily="34" charset="0"/>
                <a:cs typeface="Arial" panose="020B0604020202020204" pitchFamily="34" charset="0"/>
              </a:rPr>
              <a:t>Explore </a:t>
            </a:r>
            <a:r>
              <a:rPr lang="en-US" sz="7600" b="1" dirty="0">
                <a:latin typeface="Arial" panose="020B0604020202020204" pitchFamily="34" charset="0"/>
                <a:cs typeface="Arial" panose="020B0604020202020204" pitchFamily="34" charset="0"/>
              </a:rPr>
              <a:t>fine-grained attack classification</a:t>
            </a:r>
            <a:r>
              <a:rPr lang="en-US" sz="7600" dirty="0">
                <a:latin typeface="Arial" panose="020B0604020202020204" pitchFamily="34" charset="0"/>
                <a:cs typeface="Arial" panose="020B0604020202020204" pitchFamily="34" charset="0"/>
              </a:rPr>
              <a:t> using latent feature embeddings.</a:t>
            </a:r>
          </a:p>
          <a:p>
            <a:pPr marL="0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200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1BC3E1B-2D96-9495-0F03-77621D506F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B6056C1-5074-4528-7D7D-4A4071A543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IEEE-iSSSC 2025">
            <a:extLst>
              <a:ext uri="{FF2B5EF4-FFF2-40B4-BE49-F238E27FC236}">
                <a16:creationId xmlns:a16="http://schemas.microsoft.com/office/drawing/2014/main" id="{54FB27CE-D2FC-8675-EAA0-132BC27F68C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saturation sat="0"/>
                    </a14:imgEffect>
                    <a14:imgEffect>
                      <a14:brightnessContrast bright="-4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85987" y="14386"/>
            <a:ext cx="1406013" cy="76684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877682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DA65D3C-68A1-57C7-BD68-8A4DDBDD5C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C7CE12AA-1C03-9E46-DB28-08CBE0A911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D12C76-E70A-6E88-EC92-BBA1373909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178" y="-729595"/>
            <a:ext cx="9688296" cy="1642969"/>
          </a:xfrm>
        </p:spPr>
        <p:txBody>
          <a:bodyPr anchor="b">
            <a:normAutofit/>
          </a:bodyPr>
          <a:lstStyle/>
          <a:p>
            <a:pPr marL="279400"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ts val="2800"/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References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45E2101-2555-E33B-A702-7B6D83A73C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8356BB5-8463-0225-206F-ABCB431183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IEEE-iSSSC 2025">
            <a:extLst>
              <a:ext uri="{FF2B5EF4-FFF2-40B4-BE49-F238E27FC236}">
                <a16:creationId xmlns:a16="http://schemas.microsoft.com/office/drawing/2014/main" id="{1729A5C1-74FA-37BA-9E90-E71444B74EF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saturation sat="0"/>
                    </a14:imgEffect>
                    <a14:imgEffect>
                      <a14:brightnessContrast bright="-4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85987" y="14386"/>
            <a:ext cx="1406013" cy="766844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Rectangle 2">
            <a:extLst>
              <a:ext uri="{FF2B5EF4-FFF2-40B4-BE49-F238E27FC236}">
                <a16:creationId xmlns:a16="http://schemas.microsoft.com/office/drawing/2014/main" id="{F2F0F4C2-0395-EA57-BFE0-9E1E9D8C150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62178" y="973078"/>
            <a:ext cx="11867643" cy="50629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K. He, D. D. Kim, and M. R. Asghar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“</a:t>
            </a:r>
            <a:r>
              <a:rPr kumimoji="0" lang="en-US" altLang="en-US" sz="19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NIDS-Vis: Improving the Generalized Adversarial Robustness of Network Intrusion Detection Systems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,” </a:t>
            </a:r>
            <a:r>
              <a:rPr kumimoji="0" lang="en-US" altLang="en-US" sz="19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Computers &amp; Security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vol. 145, p. 104028, 2024.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M. Farhan et al.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“</a:t>
            </a:r>
            <a:r>
              <a:rPr kumimoji="0" lang="en-US" altLang="en-US" sz="19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Network-Based Intrusion Detection Using Deep Learning Technique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,” </a:t>
            </a:r>
            <a:r>
              <a:rPr kumimoji="0" lang="en-US" altLang="en-US" sz="19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Scientific Reports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vol. 15, p. 25550, 2025.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Y. Xue, C. Kang, and H. Yu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“</a:t>
            </a:r>
            <a:r>
              <a:rPr kumimoji="0" lang="en-US" altLang="en-US" sz="19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HAE-HRL: A Network Intrusion Detection System Utilizing a Novel Autoencoder and a Hybrid Enhanced LSTM-CNN Residual Network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,” </a:t>
            </a:r>
            <a:r>
              <a:rPr kumimoji="0" lang="en-US" altLang="en-US" sz="19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Computers &amp; Security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vol. 151, p. 104328, 2025.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Y. Ren et al.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“</a:t>
            </a:r>
            <a:r>
              <a:rPr kumimoji="0" lang="en-US" altLang="en-US" sz="19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Lightweight Unsupervised Intrusion Detection Model Based on Variational Auto-Encoder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,” </a:t>
            </a:r>
            <a:r>
              <a:rPr kumimoji="0" lang="en-US" altLang="en-US" sz="19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Sensors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vol. 23, p. 8407, 2023.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H. Huang et al.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“</a:t>
            </a:r>
            <a:r>
              <a:rPr kumimoji="0" lang="en-US" altLang="en-US" sz="19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Self-Organizing Maps-Assisted Variational Autoencoder for Unsupervised Network Anomaly Detection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,” </a:t>
            </a:r>
            <a:r>
              <a:rPr kumimoji="0" lang="en-US" altLang="en-US" sz="19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Symmetry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vol. 17, p. 520, 2025.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A. Kumar et al.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“</a:t>
            </a:r>
            <a:r>
              <a:rPr kumimoji="0" lang="en-US" altLang="en-US" sz="19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Scalable Hybrid Autoencoder–Extreme Learning Machine Framework for Adaptive Intrusion Detection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,” </a:t>
            </a:r>
            <a:r>
              <a:rPr kumimoji="0" lang="en-US" altLang="en-US" sz="19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Future Internet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vol. 17, p. 221, 2025.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Z. Li, C. Huang, and W. Qiu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“</a:t>
            </a:r>
            <a:r>
              <a:rPr kumimoji="0" lang="en-US" altLang="en-US" sz="19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 Intrusion Detection Method Combining Variational Auto-Encoder and Generative Adversarial Networks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,” </a:t>
            </a:r>
            <a:r>
              <a:rPr kumimoji="0" lang="en-US" altLang="en-US" sz="19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Computer Networks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vol. 253, p. 110724, 2024.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Y. Zhang, R. C. Muniyandi, and F. Qamar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“</a:t>
            </a:r>
            <a:r>
              <a:rPr kumimoji="0" lang="en-US" altLang="en-US" sz="19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Review of Deep Learning Applications in Intrusion Detection Systems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,” </a:t>
            </a:r>
            <a:r>
              <a:rPr kumimoji="0" lang="en-US" altLang="en-US" sz="19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Applied Sciences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vol. 15, p. 1552, 2025.</a:t>
            </a:r>
          </a:p>
        </p:txBody>
      </p:sp>
    </p:spTree>
    <p:extLst>
      <p:ext uri="{BB962C8B-B14F-4D97-AF65-F5344CB8AC3E}">
        <p14:creationId xmlns:p14="http://schemas.microsoft.com/office/powerpoint/2010/main" val="20244915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6D420BC-BB92-5F38-D0EC-2AA61C0510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5A8BF324-D5F0-E912-1399-B52BB762EB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502915-EEB7-7253-41B1-23D03EC14D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004" y="-1010714"/>
            <a:ext cx="9688296" cy="1642969"/>
          </a:xfrm>
        </p:spPr>
        <p:txBody>
          <a:bodyPr anchor="b">
            <a:normAutofit/>
          </a:bodyPr>
          <a:lstStyle/>
          <a:p>
            <a:pPr marL="279400"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ts val="2800"/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Reviewer Comments Addressed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A520D80-9ED4-8584-7740-FE84BCADA4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46DF2BD-6B17-41FF-EEA0-EC97FF6BC1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IEEE-iSSSC 2025">
            <a:extLst>
              <a:ext uri="{FF2B5EF4-FFF2-40B4-BE49-F238E27FC236}">
                <a16:creationId xmlns:a16="http://schemas.microsoft.com/office/drawing/2014/main" id="{698FE7B3-0A8C-66C9-AFFA-4D810F241F1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saturation sat="0"/>
                    </a14:imgEffect>
                    <a14:imgEffect>
                      <a14:brightnessContrast bright="-4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85987" y="14386"/>
            <a:ext cx="1406013" cy="766844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ED8E70C2-D259-AC38-8DD1-803BDB5D509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75502" y="838871"/>
            <a:ext cx="11436600" cy="5355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Addressed </a:t>
            </a:r>
            <a:r>
              <a:rPr kumimoji="0" lang="en-US" altLang="en-US" sz="1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recall limitations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by discussing the precision–recall trade-off and threshold   optimization.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altLang="en-US" sz="1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Clarified </a:t>
            </a:r>
            <a:r>
              <a:rPr kumimoji="0" lang="en-US" altLang="en-US" sz="1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evaluation consistency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between confusion matrix (F1 = 0.665) and PR-curve results (F1 = 0.7463).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altLang="en-US" sz="1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Expanded </a:t>
            </a:r>
            <a:r>
              <a:rPr kumimoji="0" lang="en-US" altLang="en-US" sz="1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comparative analysis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explaining dataset differences with </a:t>
            </a:r>
            <a:r>
              <a:rPr kumimoji="0" lang="en-US" altLang="en-US" sz="1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NIDS-Vis (UQ-IoT)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vs   </a:t>
            </a:r>
            <a:r>
              <a:rPr kumimoji="0" lang="en-US" altLang="en-US" sz="1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HFS-VAE (CICIDS2017)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altLang="en-US" sz="1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Enhanced </a:t>
            </a:r>
            <a:r>
              <a:rPr kumimoji="0" lang="en-US" altLang="en-US" sz="1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mathematical clarity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by refining </a:t>
            </a:r>
            <a:r>
              <a:rPr kumimoji="0" lang="en-US" altLang="en-US" sz="1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loss equations and architecture explanation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altLang="en-US" sz="1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Improved </a:t>
            </a:r>
            <a:r>
              <a:rPr kumimoji="0" lang="en-US" altLang="en-US" sz="1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English writing and grammar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readability and technical accuracy.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altLang="en-US" sz="1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Added details on </a:t>
            </a:r>
            <a:r>
              <a:rPr kumimoji="0" lang="en-US" altLang="en-US" sz="1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practical considerations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limitations to strengthen real-world applicability.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altLang="en-US" sz="1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Highlighted </a:t>
            </a:r>
            <a:r>
              <a:rPr kumimoji="0" lang="en-US" altLang="en-US" sz="1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model novelty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 feature-splitting architecture and interpretability over </a:t>
            </a:r>
            <a:r>
              <a:rPr kumimoji="0" lang="en-US" altLang="en-US" sz="19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existin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VAEs.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altLang="en-US" sz="1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Confirmed </a:t>
            </a:r>
            <a:r>
              <a:rPr kumimoji="0" lang="en-US" altLang="en-US" sz="1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 major modifications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required as per Reviewer, only refinements in presentation and clarity.</a:t>
            </a:r>
          </a:p>
        </p:txBody>
      </p:sp>
    </p:spTree>
    <p:extLst>
      <p:ext uri="{BB962C8B-B14F-4D97-AF65-F5344CB8AC3E}">
        <p14:creationId xmlns:p14="http://schemas.microsoft.com/office/powerpoint/2010/main" val="19925681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705353E-71BB-A44F-54B4-E3E127C69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4824" y="735106"/>
            <a:ext cx="10053763" cy="292847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Thank You</a:t>
            </a:r>
            <a:br>
              <a:rPr lang="en-US" sz="48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endParaRPr lang="en-US" sz="48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41582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327</TotalTime>
  <Words>1522</Words>
  <Application>Microsoft Office PowerPoint</Application>
  <PresentationFormat>Widescreen</PresentationFormat>
  <Paragraphs>150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Aptos</vt:lpstr>
      <vt:lpstr>Aptos Display</vt:lpstr>
      <vt:lpstr>Arial</vt:lpstr>
      <vt:lpstr>Times New Roman</vt:lpstr>
      <vt:lpstr>Office Theme</vt:lpstr>
      <vt:lpstr>2025 IEEE iSSSC</vt:lpstr>
      <vt:lpstr>Outline</vt:lpstr>
      <vt:lpstr>Introduction</vt:lpstr>
      <vt:lpstr>Motivation &amp; Core Contribution</vt:lpstr>
      <vt:lpstr>Literature Review</vt:lpstr>
      <vt:lpstr>Proposed System Model</vt:lpstr>
      <vt:lpstr>Workflow of HFS-VAE</vt:lpstr>
      <vt:lpstr>Simulation Setup</vt:lpstr>
      <vt:lpstr>Result and Discussion</vt:lpstr>
      <vt:lpstr>Conclusion &amp; Future Work</vt:lpstr>
      <vt:lpstr>References</vt:lpstr>
      <vt:lpstr>Reviewer Comments Addressed</vt:lpstr>
      <vt:lpstr>Thank You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Prangya Priyadarshini</dc:creator>
  <cp:lastModifiedBy>Shaik Thaheer</cp:lastModifiedBy>
  <cp:revision>14</cp:revision>
  <dcterms:created xsi:type="dcterms:W3CDTF">2025-10-21T04:39:10Z</dcterms:created>
  <dcterms:modified xsi:type="dcterms:W3CDTF">2025-11-01T06:04:22Z</dcterms:modified>
</cp:coreProperties>
</file>